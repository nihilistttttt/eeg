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EEG Brain-Computer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D4FF"/>
                </a:solidFill>
              </a:defRPr>
            </a:pPr>
            <a:r>
              <a:t>基于CH32H417双核MCU的脑电采集与运动想象识别系统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566160"/>
            <a:ext cx="2103120" cy="36576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B95A5"/>
                </a:solidFill>
              </a:defRPr>
            </a:pPr>
            <a:r>
              <a:t>南京信息工程大学  |  沈笑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5A5"/>
                </a:solidFill>
              </a:defRPr>
            </a:pPr>
            <a:r>
              <a:t>电子信息工程（国科大联培）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01  项目背景与目标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4864" cy="5486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057400"/>
            <a:ext cx="10698480" cy="548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B95A5"/>
                </a:solidFill>
              </a:defRPr>
            </a:pPr>
            <a:r>
              <a:t>02  硬件架构设计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743200"/>
            <a:ext cx="10698480" cy="548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834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B95A5"/>
                </a:solidFill>
              </a:defRPr>
            </a:pPr>
            <a:r>
              <a:t>03  双核协作架构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429000"/>
            <a:ext cx="10698480" cy="548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20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B95A5"/>
                </a:solidFill>
              </a:defRPr>
            </a:pPr>
            <a:r>
              <a:t>04  MCU固件与Android双端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114800"/>
            <a:ext cx="10698480" cy="548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B95A5"/>
                </a:solidFill>
              </a:defRPr>
            </a:pPr>
            <a:r>
              <a:t>05  核心算法与功能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800600"/>
            <a:ext cx="10698480" cy="548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892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B95A5"/>
                </a:solidFill>
              </a:defRPr>
            </a:pPr>
            <a:r>
              <a:t>06  系统演示与成果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486400"/>
            <a:ext cx="10698480" cy="548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577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B95A5"/>
                </a:solidFill>
              </a:defRPr>
            </a:pPr>
            <a:r>
              <a:t>07  项目亮点与规划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01  项目背景与目标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303520" cy="2286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4864" cy="2286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</a:defRPr>
            </a:pPr>
            <a:r>
              <a:t>临床需求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脑卒中患者康复训练缺乏客观评估手段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0428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运动想象(MI)训练依赖主观判断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9689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床旁监护人力成本高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889503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实时脑电监测与智能识别的空白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303520" cy="2286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54864" cy="228600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5544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B61FF"/>
                </a:solidFill>
              </a:defRPr>
            </a:pPr>
            <a:r>
              <a:t>技术背景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0116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EEG信号采集与处理技术成熟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0428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RISC-V双核MCU性能提升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59689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CSP/FBCCA算法已广泛验证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889503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移动端实时显示技术可行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931920"/>
            <a:ext cx="10789920" cy="2286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931920"/>
            <a:ext cx="54864" cy="22860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1148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853"/>
                </a:solidFill>
              </a:defRPr>
            </a:pPr>
            <a:r>
              <a:t>项目目标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57200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设计基于CH32H417双核MCU的脑电采集与运动想象方向识别系统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864608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实现实时脑电波形采集、专注度监测、SSVEP频率识别、MI方向识别、姿态监护五大功能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157216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医生端+患者端双App协作，支持远程监控与训练指导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449824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全链路国产化硬件平台，成本可控、可量产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02  硬件架构设计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383280" cy="20116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4864" cy="20116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</a:defRPr>
            </a:pPr>
            <a:r>
              <a:t>CH32H417 双核MCU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V3F: 100MHz 信号采集+FFT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0428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V5F: 400MHz MI推理+CSP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9689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IPC双核协作架构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371600"/>
            <a:ext cx="3383280" cy="20116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371600"/>
            <a:ext cx="54864" cy="201168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554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B61FF"/>
                </a:solidFill>
              </a:defRPr>
            </a:pPr>
            <a:r>
              <a:t>ADS1299 EEG ADC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0116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8通道 24bit 250SPS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30428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SPI3+DMA高速采集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59689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右腿参考驱动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371600"/>
            <a:ext cx="3383280" cy="20116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371600"/>
            <a:ext cx="54864" cy="20116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1554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800"/>
                </a:solidFill>
              </a:defRPr>
            </a:pPr>
            <a:r>
              <a:t>ICM-42605 IMU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0116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六轴姿态传感器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30428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坠床/翻身/久坐检测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59689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SPI4接口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657600"/>
            <a:ext cx="3383280" cy="20116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3657600"/>
            <a:ext cx="54864" cy="20116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3840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853"/>
                </a:solidFill>
              </a:defRPr>
            </a:pPr>
            <a:r>
              <a:t>W9825G6KH SDRAM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2976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32MB FMC Bank5/6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59028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模型权重加载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88289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CSP特征缓存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89120" y="3657600"/>
            <a:ext cx="3383280" cy="20116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89120" y="3657600"/>
            <a:ext cx="54864" cy="20116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17720" y="3840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</a:defRPr>
            </a:pPr>
            <a:r>
              <a:t>WiFi透传模块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42976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USART2 2M波特率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459028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TCP与Android通信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20" y="488289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多端口并行连接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720" y="3657600"/>
            <a:ext cx="3383280" cy="20116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46720" y="3657600"/>
            <a:ext cx="54864" cy="201168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5320" y="3840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B61FF"/>
                </a:solidFill>
              </a:defRPr>
            </a:pPr>
            <a:r>
              <a:t>SD卡 + OLED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42976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SDMMC离线存储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459028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1.3寸128x64本地显示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488289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模型/日志存储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03  双核协作架构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4864" cy="4572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</a:defRPr>
            </a:pPr>
            <a:r>
              <a:t>V3F (100MHz) — 采集与处理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ADS1299 8通道EEG采集驱动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042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50Hz陷波滤波器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9689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FFT频谱计算 (128点)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889503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专注度计算 (6通道加权)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82111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姿态检测 (ICM42605)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47471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数据帧编码+串口发送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767327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DISPLAY_CFG页面感知策略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371600"/>
            <a:ext cx="5029200" cy="4572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371600"/>
            <a:ext cx="54864" cy="457200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B61FF"/>
                </a:solidFill>
              </a:defRPr>
            </a:pPr>
            <a:r>
              <a:t>V5F (400MHz) — 推理与识别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CSP特征提取 (4通道)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3042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FFT24方向分类器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59689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模型权重从SDRAM加载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889503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推理结果通过IPC传回V3F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182111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SSVEP FBCCA频率识别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347471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训练/推理模式切换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767327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双核数据同步与互锁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6126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95A5"/>
                </a:solidFill>
              </a:defRPr>
            </a:pPr>
            <a:r>
              <a:t>IPC共享内存 + 双核中断同步机制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04  MCU固件架构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474720" cy="2286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4864" cy="2286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</a:defRPr>
            </a:pPr>
            <a:r>
              <a:t>数据采集层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ADS1299 SPI3+DMA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0428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ICM42605 SPI4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9689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帧协议解析编码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889503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通道映射与缓冲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371600"/>
            <a:ext cx="3474720" cy="2286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371600"/>
            <a:ext cx="54864" cy="228600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1554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B61FF"/>
                </a:solidFill>
              </a:defRPr>
            </a:pPr>
            <a:r>
              <a:t>信号处理层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0116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50Hz陷波+FFT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30428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专注度6通道加权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59689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SSVEP FBCCA识别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2889503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MI CSP特征提取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371600"/>
            <a:ext cx="3200400" cy="2286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371600"/>
            <a:ext cx="54864" cy="22860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800"/>
                </a:solidFill>
              </a:defRPr>
            </a:pPr>
            <a:r>
              <a:t>通信层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011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USART2 WiFi透传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2304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帧协议+8通道编号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259689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DISPLAY_CFG动态配置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2889503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命令解析器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3931920"/>
            <a:ext cx="5303520" cy="2286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3931920"/>
            <a:ext cx="54864" cy="2286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114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</a:defRPr>
            </a:pPr>
            <a:r>
              <a:t>帧协议设计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5720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帧头 0x7E + 转义 0x7D XOR 0x20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86460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命令字: RAW_WAVE/FILT_WAVE/SPECTRUM/RESULT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15721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单通道包(5B) / 双通道包(10B) / 旧协议(8B)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544982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每帧最大256字节，支持多命令拼接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3931920"/>
            <a:ext cx="5120640" cy="2286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3931920"/>
            <a:ext cx="54864" cy="22860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4114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853"/>
                </a:solidFill>
              </a:defRPr>
            </a:pPr>
            <a:r>
              <a:t>DISPLAY_CFG页面感知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457200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Android端根据当前页面发送配置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486460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不需要波形的页面发全NONE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5157216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MCU端跳过不必要的FFT计算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544982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节省CPU资源，降低功耗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04  Android双端架构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303520" cy="25603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4864" cy="2560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</a:defRPr>
            </a:pPr>
            <a:r>
              <a:t>医生端 (9页面)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脑电监测: 实时波形+频谱+4通道对比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0428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专注度: 历史曲线+填充+双曲线叠加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9689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SSVEP训练: 刺激控制+FBCCA实时评估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889503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MI训练: 方向引导+训练数据采集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82111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推理: 目标方向生成+自动验证+统计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474719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姿态监护: 事件日志+坠床报警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5120640" cy="25603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371600"/>
            <a:ext cx="54864" cy="256032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5544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B61FF"/>
                </a:solidFill>
              </a:defRPr>
            </a:pPr>
            <a:r>
              <a:t>患者端 (被动显示)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01168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推理页: 双箭头(目标+结果)+颜色判断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3042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MI训练: 方向箭头引导+进度条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596896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SSVEP: 全屏闪烁刺激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889503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纯黑背景适配AR眼镜投屏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182111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所有页面由医生端远程控制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474719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无按钮干扰，纯视觉提示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206240"/>
            <a:ext cx="10698480" cy="20116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206240"/>
            <a:ext cx="54864" cy="20116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38912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800"/>
                </a:solidFill>
              </a:defRPr>
            </a:pPr>
            <a:r>
              <a:t>通信架构 (4端口)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846320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41002: MCU→医生端命令  |  41003: MCU→Python数据  |  41004: 医生端→患者端脑电数据  |  41006: 医生端→患者端控制指令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05  核心算法与功能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303520" cy="2286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4864" cy="2286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</a:defRPr>
            </a:pPr>
            <a:r>
              <a:t>专注度计算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6通道加权: F3/F4=0.18, CP3/CP4=0.19, C3/C4=0.13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0428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OZ/O1权重为0(仅SSVEP使用)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9689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归一化总和1.00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889503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EMA指数移动平均平滑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5120640" cy="2286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54864" cy="228600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5544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B61FF"/>
                </a:solidFill>
              </a:defRPr>
            </a:pPr>
            <a:r>
              <a:t>MI方向识别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01168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CSP特征提取 (4通道)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3042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FFT24分类器 (V5F运行)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596896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模型从SDRAM加载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889503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2秒推理窗口+6通道输入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931920"/>
            <a:ext cx="5303520" cy="2286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931920"/>
            <a:ext cx="54864" cy="22860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114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800"/>
                </a:solidFill>
              </a:defRPr>
            </a:pPr>
            <a:r>
              <a:t>SSVEP频率识别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5720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FBCCA滤波器组CCA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86460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4个子带: 6-45/10-45/14-45/18-45Hz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15721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目标频率: 11/13/15/17Hz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44982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投票机制+拒识门限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3931920"/>
            <a:ext cx="5120640" cy="2286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3931920"/>
            <a:ext cx="54864" cy="22860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4114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853"/>
                </a:solidFill>
              </a:defRPr>
            </a:pPr>
            <a:r>
              <a:t>姿态监护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57200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仰卧/俯卧/左右侧卧/坐姿识别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86460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坠床检测+弹窗报警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5157216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久未翻身提醒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544982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事件日志持续记录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06  系统演示与成果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474720" cy="2286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4864" cy="2286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</a:defRPr>
            </a:pPr>
            <a:r>
              <a:t>采集性能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8通道 250SPS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0428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24bit精度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9689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帧协议可靠传输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889503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DMA零拷贝采集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371600"/>
            <a:ext cx="3474720" cy="2286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371600"/>
            <a:ext cx="54864" cy="228600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1554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B61FF"/>
                </a:solidFill>
              </a:defRPr>
            </a:pPr>
            <a:r>
              <a:t>推理性能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0116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2秒推理窗口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30428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CSP+FFT24双模型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59689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万分比置信度输出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2889503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V5F独立运行不占V3F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371600"/>
            <a:ext cx="3200400" cy="2286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371600"/>
            <a:ext cx="54864" cy="22860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800"/>
                </a:solidFill>
              </a:defRPr>
            </a:pPr>
            <a:r>
              <a:t>通信性能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011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WiFi 2M波特率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2304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4端口并行连接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259689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医患双端协作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2889503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帧协议低延迟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3931920"/>
            <a:ext cx="10698480" cy="2286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3931920"/>
            <a:ext cx="54864" cy="22860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1148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853"/>
                </a:solidFill>
              </a:defRPr>
            </a:pPr>
            <a:r>
              <a:t>功能演示亮点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572000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实时脑电波形显示: 8通道同步渲染，支持原始/滤波/基线三种波形叠加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864608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专注度双曲线填充: 平均值更小的绘制在上层，重叠区域只显示上层颜色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157216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推理双箭头: 目标(左)结果(右)并排，一致绿色/不一致红色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5449824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姿态日志: 全局持续记录，坠床报警红色高亮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07  项目亮点与规划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303520" cy="4572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4864" cy="4572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</a:defRPr>
            </a:pPr>
            <a:r>
              <a:t>项目亮点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全国产化硬件平台: CH32H417+ADS1299+ICM42605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0428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双核异构计算: V3F采集+V5F推理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9689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页面感知DISPLAY_CFG: 按需计算节省CPU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889503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医患双端协作: 医生控制+患者被动显示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82111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姿态全局日志: 静态listener永不丢事件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474719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AR眼镜适配: 纯黑背景+高对比度箭头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767327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可扩展硬件接口: BLE/蜂鸣器/电池/GPS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371600"/>
            <a:ext cx="5120640" cy="4572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371600"/>
            <a:ext cx="54864" cy="457200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5544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B61FF"/>
                </a:solidFill>
              </a:defRPr>
            </a:pPr>
            <a:r>
              <a:t>未来规划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01168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脑电地形图(Topomap)实时显示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3042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专注度生物反馈游戏化训练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596896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多患者同时监控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889503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训练方案可视化编辑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182111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数据导出PDF临床报告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474719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TTS语音播报训练指令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76732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</a:defRPr>
            </a:pPr>
            <a:r>
              <a:t>• BLE近场通信+便携化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017520"/>
            <a:ext cx="2103120" cy="36576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B95A5"/>
                </a:solidFill>
              </a:defRPr>
            </a:pPr>
            <a:r>
              <a:t>恳请各位老师批评指正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5A5"/>
                </a:solidFill>
              </a:defRPr>
            </a:pPr>
            <a:r>
              <a:t>南京信息工程大学  |  沈笑  |  电子信息工程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