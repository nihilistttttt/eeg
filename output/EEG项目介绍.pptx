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B8D4"/>
                </a:solidFill>
              </a:defRPr>
            </a:pPr>
            <a:r>
              <a:t>基于CH32H417双核MCU的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EEG脑电采集与运动想象方向识别系统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9800"/>
                </a:solidFill>
              </a:defRPr>
            </a:pPr>
            <a:r>
              <a:t>技术验证平台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B8D"/>
                </a:solidFill>
              </a:defRPr>
            </a:pPr>
            <a:r>
              <a:t>验证从采集→处理→推理→显示的完整BCI链路可行性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200400"/>
            <a:ext cx="6400800" cy="822960"/>
          </a:xfrm>
          <a:prstGeom prst="roundRect">
            <a:avLst/>
          </a:prstGeom>
          <a:solidFill>
            <a:srgbClr val="15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3337560"/>
            <a:ext cx="5852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B8D4"/>
                </a:solidFill>
              </a:defRPr>
            </a:pPr>
            <a:r>
              <a:t>V3F 100MHz + V5F 400MHz  |  ADS1299 8ch 24bit  |  ICM-42605 IMU  |  ESP8266 WiFi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</a:defRPr>
            </a:pPr>
            <a:r>
              <a:t>系统架构：为什么是三层？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914400"/>
            <a:ext cx="2651760" cy="219456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ACC"/>
                </a:solidFill>
              </a:defRPr>
            </a:pPr>
            <a:r>
              <a:t>采集端 (MCU)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1A1A2E"/>
                </a:solidFill>
              </a:defRPr>
            </a:pPr>
            <a:r>
              <a:t>为什么不用纯Android?</a:t>
            </a:r>
          </a:p>
          <a:p>
            <a:pPr>
              <a:spcAft>
                <a:spcPts val="400"/>
              </a:spcAft>
              <a:defRPr sz="1000">
                <a:solidFill>
                  <a:srgbClr val="1A1A2E"/>
                </a:solidFill>
              </a:defRPr>
            </a:pPr>
            <a:r>
              <a:t>→ ADS1299需SPI+DMA硬实时</a:t>
            </a:r>
          </a:p>
          <a:p>
            <a:pPr>
              <a:spcAft>
                <a:spcPts val="400"/>
              </a:spcAft>
              <a:defRPr sz="1000">
                <a:solidFill>
                  <a:srgbClr val="1A1A2E"/>
                </a:solidFill>
              </a:defRPr>
            </a:pPr>
            <a:r>
              <a:t>→ 250SPS×8ch Android无法保证</a:t>
            </a:r>
          </a:p>
          <a:p>
            <a:pPr>
              <a:spcAft>
                <a:spcPts val="400"/>
              </a:spcAft>
              <a:defRPr sz="1000">
                <a:solidFill>
                  <a:srgbClr val="1A1A2E"/>
                </a:solidFill>
              </a:defRPr>
            </a:pPr>
            <a:r>
              <a:t>→ FFT需确定性延迟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914400"/>
            <a:ext cx="2651760" cy="21945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1005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53"/>
                </a:solidFill>
              </a:defRPr>
            </a:pPr>
            <a:r>
              <a:t>医生端 (Android)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32588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1A1A2E"/>
                </a:solidFill>
              </a:defRPr>
            </a:pPr>
            <a:r>
              <a:t>为什么不能省?</a:t>
            </a:r>
          </a:p>
          <a:p>
            <a:pPr>
              <a:spcAft>
                <a:spcPts val="400"/>
              </a:spcAft>
              <a:defRPr sz="1000">
                <a:solidFill>
                  <a:srgbClr val="1A1A2E"/>
                </a:solidFill>
              </a:defRPr>
            </a:pPr>
            <a:r>
              <a:t>→ 患者无法自行操作设备</a:t>
            </a:r>
          </a:p>
          <a:p>
            <a:pPr>
              <a:spcAft>
                <a:spcPts val="400"/>
              </a:spcAft>
              <a:defRPr sz="1000">
                <a:solidFill>
                  <a:srgbClr val="1A1A2E"/>
                </a:solidFill>
              </a:defRPr>
            </a:pPr>
            <a:r>
              <a:t>→ 需专业监控+训练配置</a:t>
            </a:r>
          </a:p>
          <a:p>
            <a:pPr>
              <a:spcAft>
                <a:spcPts val="400"/>
              </a:spcAft>
              <a:defRPr sz="1000">
                <a:solidFill>
                  <a:srgbClr val="1A1A2E"/>
                </a:solidFill>
              </a:defRPr>
            </a:pPr>
            <a:r>
              <a:t>→ 姿态警报需医护响应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914400"/>
            <a:ext cx="2743200" cy="2194560"/>
          </a:xfrm>
          <a:prstGeom prst="roundRect">
            <a:avLst/>
          </a:prstGeom>
          <a:solidFill>
            <a:srgbClr val="FDE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005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800"/>
                </a:solidFill>
              </a:defRPr>
            </a:pPr>
            <a:r>
              <a:t>患者端 (Android)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32588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1A1A2E"/>
                </a:solidFill>
              </a:defRPr>
            </a:pPr>
            <a:r>
              <a:t>为什么独立?</a:t>
            </a:r>
          </a:p>
          <a:p>
            <a:pPr>
              <a:spcAft>
                <a:spcPts val="400"/>
              </a:spcAft>
              <a:defRPr sz="1000">
                <a:solidFill>
                  <a:srgbClr val="1A1A2E"/>
                </a:solidFill>
              </a:defRPr>
            </a:pPr>
            <a:r>
              <a:t>→ AR眼镜投屏需独立渲染</a:t>
            </a:r>
          </a:p>
          <a:p>
            <a:pPr>
              <a:spcAft>
                <a:spcPts val="400"/>
              </a:spcAft>
              <a:defRPr sz="1000">
                <a:solidFill>
                  <a:srgbClr val="1A1A2E"/>
                </a:solidFill>
              </a:defRPr>
            </a:pPr>
            <a:r>
              <a:t>→ SSVEP闪烁需精确帧率</a:t>
            </a:r>
          </a:p>
          <a:p>
            <a:pPr>
              <a:spcAft>
                <a:spcPts val="400"/>
              </a:spcAft>
              <a:defRPr sz="1000">
                <a:solidFill>
                  <a:srgbClr val="1A1A2E"/>
                </a:solidFill>
              </a:defRPr>
            </a:pPr>
            <a:r>
              <a:t>→ 被动化避免误操作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291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ACC"/>
                </a:solidFill>
              </a:defRPr>
            </a:pPr>
            <a:r>
              <a:t>通信端口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274320" y="3611880"/>
          <a:ext cx="859536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286000"/>
                <a:gridCol w="5394960"/>
              </a:tblGrid>
              <a:tr h="256032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端口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方向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用途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41002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MCU ↔ 医生端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双向透传: 命令/事件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41003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医生端 → 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原始帧转发(SSVEP分析)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41004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医生端 ↔ 患者端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控制: PAGE/SSVEP/TARGET + 握手心跳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41005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UDP广播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患者端自动发现医生端IP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</a:defRPr>
            </a:pPr>
            <a:r>
              <a:t>双核异构：为什么不用单核？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914400"/>
            <a:ext cx="4023360" cy="219456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A9E"/>
                </a:solidFill>
              </a:defRPr>
            </a:pPr>
            <a:r>
              <a:t>V3F 100MHz — 采集与处理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1A1A2E"/>
                </a:solidFill>
              </a:defRPr>
            </a:pPr>
            <a:r>
              <a:t>ADS1299 SPI3+DMA 8ch 250SPS采集</a:t>
            </a:r>
          </a:p>
          <a:p>
            <a:pPr>
              <a:spcAft>
                <a:spcPts val="400"/>
              </a:spcAft>
              <a:defRPr sz="1000">
                <a:solidFill>
                  <a:srgbClr val="1A1A2E"/>
                </a:solidFill>
              </a:defRPr>
            </a:pPr>
            <a:r>
              <a:t>50Hz陷波 + 带通滤波 + 基线去除</a:t>
            </a:r>
          </a:p>
          <a:p>
            <a:pPr>
              <a:spcAft>
                <a:spcPts val="400"/>
              </a:spcAft>
              <a:defRPr sz="1000">
                <a:solidFill>
                  <a:srgbClr val="1A1A2E"/>
                </a:solidFill>
              </a:defRPr>
            </a:pPr>
            <a:r>
              <a:t>256点FFT (步进128, 50%重叠, 500ms)</a:t>
            </a:r>
          </a:p>
          <a:p>
            <a:pPr>
              <a:spcAft>
                <a:spcPts val="400"/>
              </a:spcAft>
              <a:defRPr sz="1000">
                <a:solidFill>
                  <a:srgbClr val="1A1A2E"/>
                </a:solidFill>
              </a:defRPr>
            </a:pPr>
            <a:r>
              <a:t>8ch频谱分片发送(32片×16字节)</a:t>
            </a:r>
          </a:p>
          <a:p>
            <a:pPr>
              <a:spcAft>
                <a:spcPts val="400"/>
              </a:spcAft>
              <a:defRPr sz="1000">
                <a:solidFill>
                  <a:srgbClr val="1A1A2E"/>
                </a:solidFill>
              </a:defRPr>
            </a:pPr>
            <a:r>
              <a:t>6ch加权专注度 + ICM-42605姿态</a:t>
            </a:r>
          </a:p>
          <a:p>
            <a:pPr>
              <a:spcAft>
                <a:spcPts val="400"/>
              </a:spcAft>
              <a:defRPr sz="1000">
                <a:solidFill>
                  <a:srgbClr val="1A1A2E"/>
                </a:solidFill>
              </a:defRPr>
            </a:pPr>
            <a:r>
              <a:t>DISPLAY_CFG按需配置发送通道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914400"/>
            <a:ext cx="4023360" cy="21945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53"/>
                </a:solidFill>
              </a:defRPr>
            </a:pPr>
            <a:r>
              <a:t>V5F 400MHz — 推理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32588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1A1A2E"/>
                </a:solidFill>
              </a:defRPr>
            </a:pPr>
            <a:r>
              <a:t>IPC共享内存接收V3F预处理帧</a:t>
            </a:r>
          </a:p>
          <a:p>
            <a:pPr>
              <a:spcAft>
                <a:spcPts val="400"/>
              </a:spcAft>
              <a:defRPr sz="1000">
                <a:solidFill>
                  <a:srgbClr val="1A1A2E"/>
                </a:solidFill>
              </a:defRPr>
            </a:pPr>
            <a:r>
              <a:t>24维频域特征 → LEFT/RIGHT分类</a:t>
            </a:r>
          </a:p>
          <a:p>
            <a:pPr>
              <a:spcAft>
                <a:spcPts val="400"/>
              </a:spcAft>
              <a:defRPr sz="1000">
                <a:solidFill>
                  <a:srgbClr val="1A1A2E"/>
                </a:solidFill>
              </a:defRPr>
            </a:pPr>
            <a:r>
              <a:t>500ms推理1次, 4次投票, 2s出结果</a:t>
            </a:r>
          </a:p>
          <a:p>
            <a:pPr>
              <a:spcAft>
                <a:spcPts val="400"/>
              </a:spcAft>
              <a:defRPr sz="1000">
                <a:solidFill>
                  <a:srgbClr val="1A1A2E"/>
                </a:solidFill>
              </a:defRPr>
            </a:pPr>
            <a:r>
              <a:t>支持FFT24/CSP双模型切换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3291840"/>
            <a:ext cx="8595360" cy="1554480"/>
          </a:xfrm>
          <a:prstGeom prst="roundRect">
            <a:avLst/>
          </a:prstGeom>
          <a:solidFill>
            <a:srgbClr val="FDE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383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800"/>
                </a:solidFill>
              </a:defRPr>
            </a:pPr>
            <a:r>
              <a:t>为什么不用单核?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0332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1A1A2E"/>
                </a:solidFill>
              </a:defRPr>
            </a:pPr>
            <a:r>
              <a:t>采集+推理串行: 250SPS采集不允许被推理阻塞, 推理(矩阵运算)又需连续CPU时间</a:t>
            </a:r>
          </a:p>
          <a:p>
            <a:pPr>
              <a:spcAft>
                <a:spcPts val="400"/>
              </a:spcAft>
              <a:defRPr sz="1000">
                <a:solidFill>
                  <a:srgbClr val="1A1A2E"/>
                </a:solidFill>
              </a:defRPr>
            </a:pPr>
            <a:r>
              <a:t>→ 采集抖动→FFT窗口不对齐→频谱泄漏; 推理被采集中断打断→延迟翻倍</a:t>
            </a:r>
          </a:p>
          <a:p>
            <a:pPr>
              <a:spcAft>
                <a:spcPts val="400"/>
              </a:spcAft>
              <a:defRPr sz="1000">
                <a:solidFill>
                  <a:srgbClr val="1A1A2E"/>
                </a:solidFill>
              </a:defRPr>
            </a:pPr>
            <a:r>
              <a:t>双核: V3F保证采集确定性, V5F专注推理算力, IPC零拷贝并行互不阻塞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</a:defRPr>
            </a:pPr>
            <a:r>
              <a:t>通道选择与专注度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914400"/>
            <a:ext cx="5303520" cy="192024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ACC"/>
                </a:solidFill>
              </a:defRPr>
            </a:pPr>
            <a:r>
              <a:t>8通道布局 (10-20系统)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49377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097280"/>
                <a:gridCol w="3108960"/>
              </a:tblGrid>
              <a:tr h="27432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通道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脑区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角色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F3 / F4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前额叶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执行控制/注意 → 专注度(0.18)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CP3 / CP4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中央-顶叶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感觉运动整合 → 专注度(0.19) + MI主特征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C3 / C4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初级运动皮层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运动执行 → 专注度(0.13, 运动伪迹大)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O1 / OZ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枕叶视觉区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SSVEP稳态视觉诱发电位 → 权重0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852160" y="914400"/>
            <a:ext cx="3017520" cy="1920240"/>
          </a:xfrm>
          <a:prstGeom prst="roundRect">
            <a:avLst/>
          </a:prstGeom>
          <a:solidFill>
            <a:srgbClr val="FDE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0" y="10058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800"/>
                </a:solidFill>
              </a:defRPr>
            </a:pPr>
            <a:r>
              <a:t>权重依据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32588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1A1A2E"/>
                </a:solidFill>
              </a:defRPr>
            </a:pPr>
            <a:r>
              <a:t>CP最高: MI核心区, μ/β节律最显著</a:t>
            </a:r>
          </a:p>
          <a:p>
            <a:pPr>
              <a:spcAft>
                <a:spcPts val="400"/>
              </a:spcAft>
              <a:defRPr sz="900">
                <a:solidFill>
                  <a:srgbClr val="1A1A2E"/>
                </a:solidFill>
              </a:defRPr>
            </a:pPr>
            <a:r>
              <a:t>F次高: 前额叶与注意力强相关(文献共识)</a:t>
            </a:r>
          </a:p>
          <a:p>
            <a:pPr>
              <a:spcAft>
                <a:spcPts val="400"/>
              </a:spcAft>
              <a:defRPr sz="900">
                <a:solidFill>
                  <a:srgbClr val="1A1A2E"/>
                </a:solidFill>
              </a:defRPr>
            </a:pPr>
            <a:r>
              <a:t>C最低: 初级运动皮层, 运动伪迹干扰大</a:t>
            </a:r>
          </a:p>
          <a:p>
            <a:pPr>
              <a:spcAft>
                <a:spcPts val="400"/>
              </a:spcAft>
              <a:defRPr sz="900">
                <a:solidFill>
                  <a:srgbClr val="1A1A2E"/>
                </a:solidFill>
              </a:defRPr>
            </a:pPr>
            <a:r>
              <a:t>O=0: 视觉区对MI无贡献, 专用于SSVEP</a:t>
            </a:r>
          </a:p>
          <a:p>
            <a:pPr>
              <a:spcAft>
                <a:spcPts val="400"/>
              </a:spcAft>
              <a:defRPr sz="900">
                <a:solidFill>
                  <a:srgbClr val="1A1A2E"/>
                </a:solidFill>
              </a:defRPr>
            </a:pPr>
            <a:r>
              <a:t>排序有神经生理学依据, 数值为经验设定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3017520"/>
            <a:ext cx="4114800" cy="18288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108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53"/>
                </a:solidFill>
              </a:defRPr>
            </a:pPr>
            <a:r>
              <a:t>专注度算法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3657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1A1A2E"/>
                </a:solidFill>
              </a:defRPr>
            </a:pPr>
            <a:r>
              <a:t>6通道α/β能量比 → 加权求和 → EMA平滑</a:t>
            </a:r>
          </a:p>
          <a:p>
            <a:pPr>
              <a:spcAft>
                <a:spcPts val="400"/>
              </a:spcAft>
              <a:defRPr sz="1000">
                <a:solidFill>
                  <a:srgbClr val="1A1A2E"/>
                </a:solidFill>
              </a:defRPr>
            </a:pPr>
            <a:r>
              <a:t>双状态: 瞬时(短窗) + 趋势(长窗EMA)</a:t>
            </a:r>
          </a:p>
          <a:p>
            <a:pPr>
              <a:spcAft>
                <a:spcPts val="400"/>
              </a:spcAft>
              <a:defRPr sz="1000">
                <a:solidFill>
                  <a:srgbClr val="1A1A2E"/>
                </a:solidFill>
              </a:defRPr>
            </a:pPr>
            <a:r>
              <a:t>500ms更新, 阈值可调适配不同基线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3017520"/>
            <a:ext cx="4297680" cy="1828800"/>
          </a:xfrm>
          <a:prstGeom prst="roundRect">
            <a:avLst/>
          </a:prstGeom>
          <a:solidFill>
            <a:srgbClr val="FDE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31089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800"/>
                </a:solidFill>
              </a:defRPr>
            </a:pPr>
            <a:r>
              <a:t>已知局限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429000"/>
            <a:ext cx="3931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1A1A2E"/>
                </a:solidFill>
              </a:defRPr>
            </a:pPr>
            <a:r>
              <a:t>权重为经验设定, 非数据驱动优化</a:t>
            </a:r>
          </a:p>
          <a:p>
            <a:pPr>
              <a:spcAft>
                <a:spcPts val="400"/>
              </a:spcAft>
              <a:defRPr sz="1000">
                <a:solidFill>
                  <a:srgbClr val="1A1A2E"/>
                </a:solidFill>
              </a:defRPr>
            </a:pPr>
            <a:r>
              <a:t>→ 改进: 标注数据 + 回归/网格搜索</a:t>
            </a:r>
          </a:p>
          <a:p>
            <a:pPr>
              <a:spcAft>
                <a:spcPts val="400"/>
              </a:spcAft>
              <a:defRPr sz="1000">
                <a:solidFill>
                  <a:srgbClr val="1A1A2E"/>
                </a:solidFill>
              </a:defRPr>
            </a:pPr>
            <a:r>
              <a:t>未做受试者间差异分析</a:t>
            </a:r>
          </a:p>
          <a:p>
            <a:pPr>
              <a:spcAft>
                <a:spcPts val="400"/>
              </a:spcAft>
              <a:defRPr sz="1000">
                <a:solidFill>
                  <a:srgbClr val="1A1A2E"/>
                </a:solidFill>
              </a:defRPr>
            </a:pPr>
            <a:r>
              <a:t>→ 改进: 个性化权重校准流程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</a:defRPr>
            </a:pPr>
            <a:r>
              <a:t>信号处理与通信协议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822960"/>
            <a:ext cx="1600200" cy="36576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采集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34440"/>
            <a:ext cx="1600200" cy="777240"/>
          </a:xfrm>
          <a:prstGeom prst="round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98448"/>
            <a:ext cx="1417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A1A2E"/>
                </a:solidFill>
              </a:defRPr>
            </a:pPr>
            <a:r>
              <a:t>ADS1299</a:t>
            </a:r>
            <a:br/>
            <a:r>
              <a:t>8ch×250SPS</a:t>
            </a:r>
            <a:br/>
            <a:r>
              <a:t>24bit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57400" y="822960"/>
            <a:ext cx="1600200" cy="365760"/>
          </a:xfrm>
          <a:prstGeom prst="roundRect">
            <a:avLst/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滤波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57400" y="1234440"/>
            <a:ext cx="1600200" cy="777240"/>
          </a:xfrm>
          <a:prstGeom prst="round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8840" y="1298448"/>
            <a:ext cx="1417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A1A2E"/>
                </a:solidFill>
              </a:defRPr>
            </a:pPr>
            <a:r>
              <a:t>50Hz陷波</a:t>
            </a:r>
            <a:br/>
            <a:r>
              <a:t>带通滤波</a:t>
            </a:r>
            <a:br/>
            <a:r>
              <a:t>去基线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822960"/>
            <a:ext cx="1600200" cy="36576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FFT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1234440"/>
            <a:ext cx="1600200" cy="777240"/>
          </a:xfrm>
          <a:prstGeom prst="round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0" y="1298448"/>
            <a:ext cx="1417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A1A2E"/>
                </a:solidFill>
              </a:defRPr>
            </a:pPr>
            <a:r>
              <a:t>256点</a:t>
            </a:r>
            <a:br/>
            <a:r>
              <a:t>步进128</a:t>
            </a:r>
            <a:br/>
            <a:r>
              <a:t>50%重叠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23559" y="822960"/>
            <a:ext cx="1600200" cy="36576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特征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59" y="1234440"/>
            <a:ext cx="1600200" cy="777240"/>
          </a:xfrm>
          <a:prstGeom prst="round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14999" y="1298448"/>
            <a:ext cx="1417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A1A2E"/>
                </a:solidFill>
              </a:defRPr>
            </a:pPr>
            <a:r>
              <a:t>频谱+专注度</a:t>
            </a:r>
            <a:br/>
            <a:r>
              <a:t>+24维方向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822960"/>
            <a:ext cx="1600200" cy="36576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推理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1234440"/>
            <a:ext cx="1600200" cy="777240"/>
          </a:xfrm>
          <a:prstGeom prst="round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1298448"/>
            <a:ext cx="1417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A1A2E"/>
                </a:solidFill>
              </a:defRPr>
            </a:pPr>
            <a:r>
              <a:t>FFT24</a:t>
            </a:r>
            <a:br/>
            <a:r>
              <a:t>4次投票</a:t>
            </a:r>
            <a:br/>
            <a:r>
              <a:t>2s/结果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21488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ACC"/>
                </a:solidFill>
              </a:defRPr>
            </a:pPr>
            <a:r>
              <a:t>二进制帧  0x7E帧头尾 + 0x7D转义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274320" y="2423160"/>
          <a:ext cx="859536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822960"/>
                <a:gridCol w="4663440"/>
                <a:gridCol w="1463040"/>
              </a:tblGrid>
              <a:tr h="25146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CMD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值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负载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频率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RAW/FILT_WAVE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0x04/0x10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[ch:1B][val:4B]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250SPS/ch</a:t>
                      </a:r>
                    </a:p>
                  </a:txBody>
                  <a:tcPr/>
                </a:tc>
              </a:tr>
              <a:tr h="2514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0x05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[attn0~ema1:16B][trend:1B][inst:1B]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500ms</a:t>
                      </a:r>
                    </a:p>
                  </a:txBody>
                  <a:tcPr/>
                </a:tc>
              </a:tr>
              <a:tr h="2514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SPECTRUM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0x20+x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[frag:1B][total:1B][float×4]×32片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500ms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274320" y="35204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A9E"/>
                </a:solidFill>
              </a:defRPr>
            </a:pPr>
            <a:r>
              <a:t>文本行  \r\n结尾, seq序号去重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74320" y="3794760"/>
          <a:ext cx="859536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5943600"/>
                <a:gridCol w="1280160"/>
              </a:tblGrid>
              <a:tr h="22860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协议</a:t>
                      </a:r>
                    </a:p>
                  </a:txBody>
                  <a:tcPr>
                    <a:solidFill>
                      <a:srgbClr val="005A9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示例</a:t>
                      </a:r>
                    </a:p>
                  </a:txBody>
                  <a:tcPr>
                    <a:solidFill>
                      <a:srgbClr val="005A9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触发</a:t>
                      </a:r>
                    </a:p>
                  </a:txBody>
                  <a:tcPr>
                    <a:solidFill>
                      <a:srgbClr val="005A9E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RESULT,seq=5,INTENT=LEFT,S_LEFT=6500,CONF=3000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~2s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TASK,LEFT,start / TASK,DONE,seq=5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事件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FALL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FALL_EVENT,seq=1,gyro=35000,acc=250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事件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B8D"/>
                </a:solidFill>
              </a:defRPr>
            </a:pPr>
            <a:r>
              <a:t>频谱128点分32片避免WiFi丢包  |  seq序号防重复处理  |  带宽合计约8.4KB/s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</a:defRPr>
            </a:pPr>
            <a:r>
              <a:t>Android双端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914400"/>
            <a:ext cx="4206240" cy="384048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53"/>
                </a:solidFill>
              </a:defRPr>
            </a:pPr>
            <a:r>
              <a:t>医生端 — 监控与决策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3840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1A1A2E"/>
                </a:solidFill>
              </a:defRPr>
            </a:pPr>
            <a:r>
              <a:t>8ch实时波形/频谱 (4通道同时监控)</a:t>
            </a:r>
          </a:p>
          <a:p>
            <a:pPr>
              <a:spcAft>
                <a:spcPts val="400"/>
              </a:spcAft>
              <a:defRPr sz="1000">
                <a:solidFill>
                  <a:srgbClr val="1A1A2E"/>
                </a:solidFill>
              </a:defRPr>
            </a:pPr>
            <a:r>
              <a:t>专注度双曲线 + 填充 + 瞬时/趋势状态</a:t>
            </a:r>
          </a:p>
          <a:p>
            <a:pPr>
              <a:spcAft>
                <a:spcPts val="400"/>
              </a:spcAft>
              <a:defRPr sz="1000">
                <a:solidFill>
                  <a:srgbClr val="1A1A2E"/>
                </a:solidFill>
              </a:defRPr>
            </a:pPr>
            <a:r>
              <a:t>MI训练: 序列控制 + DIRCSV特征采集</a:t>
            </a:r>
          </a:p>
          <a:p>
            <a:pPr>
              <a:spcAft>
                <a:spcPts val="400"/>
              </a:spcAft>
              <a:defRPr sz="1000">
                <a:solidFill>
                  <a:srgbClr val="1A1A2E"/>
                </a:solidFill>
              </a:defRPr>
            </a:pPr>
            <a:r>
              <a:t>方向推理: 循环/随机目标 + 自动验证</a:t>
            </a:r>
          </a:p>
          <a:p>
            <a:pPr>
              <a:spcAft>
                <a:spcPts val="400"/>
              </a:spcAft>
              <a:defRPr sz="1000">
                <a:solidFill>
                  <a:srgbClr val="1A1A2E"/>
                </a:solidFill>
              </a:defRPr>
            </a:pPr>
            <a:r>
              <a:t>  → TARGET命令下发患者端</a:t>
            </a:r>
          </a:p>
          <a:p>
            <a:pPr>
              <a:spcAft>
                <a:spcPts val="400"/>
              </a:spcAft>
              <a:defRPr sz="1000">
                <a:solidFill>
                  <a:srgbClr val="1A1A2E"/>
                </a:solidFill>
              </a:defRPr>
            </a:pPr>
            <a:r>
              <a:t>SSVEP: 4频率刺激控制 + 频谱对比</a:t>
            </a:r>
          </a:p>
          <a:p>
            <a:pPr>
              <a:spcAft>
                <a:spcPts val="400"/>
              </a:spcAft>
              <a:defRPr sz="1000">
                <a:solidFill>
                  <a:srgbClr val="1A1A2E"/>
                </a:solidFill>
              </a:defRPr>
            </a:pPr>
            <a:r>
              <a:t>姿态监护: 事件日志 + 坠床红色警报</a:t>
            </a:r>
          </a:p>
          <a:p>
            <a:pPr>
              <a:spcAft>
                <a:spcPts val="400"/>
              </a:spcAft>
              <a:defRPr sz="1000">
                <a:solidFill>
                  <a:srgbClr val="1A1A2E"/>
                </a:solidFill>
              </a:defRPr>
            </a:pPr>
            <a:r>
              <a:t>  → 久未翻身橙色提醒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914400"/>
            <a:ext cx="4206240" cy="3840480"/>
          </a:xfrm>
          <a:prstGeom prst="roundRect">
            <a:avLst/>
          </a:prstGeom>
          <a:solidFill>
            <a:srgbClr val="FDE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10058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800"/>
                </a:solidFill>
              </a:defRPr>
            </a:pPr>
            <a:r>
              <a:t>患者端 — 完全被动化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325880"/>
            <a:ext cx="3840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1A1A2E"/>
                </a:solidFill>
              </a:defRPr>
            </a:pPr>
            <a:r>
              <a:t>患者(脑卒中/运动障碍)无法操作手机</a:t>
            </a:r>
          </a:p>
          <a:p>
            <a:pPr>
              <a:spcAft>
                <a:spcPts val="400"/>
              </a:spcAft>
              <a:defRPr sz="1000">
                <a:solidFill>
                  <a:srgbClr val="1A1A2E"/>
                </a:solidFill>
              </a:defRPr>
            </a:pPr>
            <a:r>
              <a:t>→ 无TabLayout, 禁止手动翻页</a:t>
            </a:r>
          </a:p>
          <a:p>
            <a:pPr>
              <a:spcAft>
                <a:spcPts val="400"/>
              </a:spcAft>
              <a:defRPr sz="1000">
                <a:solidFill>
                  <a:srgbClr val="1A1A2E"/>
                </a:solidFill>
              </a:defRPr>
            </a:pPr>
            <a:r>
              <a:t>→ 所有页面由医生端PAGE命令驱动</a:t>
            </a:r>
          </a:p>
          <a:p>
            <a:pPr>
              <a:spcAft>
                <a:spcPts val="400"/>
              </a:spcAft>
              <a:defRPr sz="1000">
                <a:solidFill>
                  <a:srgbClr val="1A1A2E"/>
                </a:solidFill>
              </a:defRPr>
            </a:pPr>
            <a:r>
              <a:t>MI训练: 方向箭头引导 (◀/▶)</a:t>
            </a:r>
          </a:p>
          <a:p>
            <a:pPr>
              <a:spcAft>
                <a:spcPts val="400"/>
              </a:spcAft>
              <a:defRPr sz="1000">
                <a:solidFill>
                  <a:srgbClr val="1A1A2E"/>
                </a:solidFill>
              </a:defRPr>
            </a:pPr>
            <a:r>
              <a:t>MI推理: 目标+结果双箭头</a:t>
            </a:r>
          </a:p>
          <a:p>
            <a:pPr>
              <a:spcAft>
                <a:spcPts val="400"/>
              </a:spcAft>
              <a:defRPr sz="1000">
                <a:solidFill>
                  <a:srgbClr val="1A1A2E"/>
                </a:solidFill>
              </a:defRPr>
            </a:pPr>
            <a:r>
              <a:t>  → 一致绿色, 不一致红色, 1.5s消失</a:t>
            </a:r>
          </a:p>
          <a:p>
            <a:pPr>
              <a:spcAft>
                <a:spcPts val="400"/>
              </a:spcAft>
              <a:defRPr sz="1000">
                <a:solidFill>
                  <a:srgbClr val="1A1A2E"/>
                </a:solidFill>
              </a:defRPr>
            </a:pPr>
            <a:r>
              <a:t>SSVEP: 全屏闪烁 (11/13/15/17Hz)</a:t>
            </a:r>
          </a:p>
          <a:p>
            <a:pPr>
              <a:spcAft>
                <a:spcPts val="400"/>
              </a:spcAft>
              <a:defRPr sz="1000">
                <a:solidFill>
                  <a:srgbClr val="1A1A2E"/>
                </a:solidFill>
              </a:defRPr>
            </a:pPr>
            <a:r>
              <a:t>AR眼镜适配: 纯黑背景+200sp字号</a:t>
            </a:r>
          </a:p>
          <a:p>
            <a:pPr>
              <a:spcAft>
                <a:spcPts val="400"/>
              </a:spcAft>
              <a:defRPr sz="1000">
                <a:solidFill>
                  <a:srgbClr val="1A1A2E"/>
                </a:solidFill>
              </a:defRPr>
            </a:pPr>
            <a:r>
              <a:t>41004双向握手+PING/PONG+断线重连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8D4"/>
                </a:solidFill>
              </a:defRPr>
            </a:pPr>
            <a:r>
              <a:t>技术亮点与现状评估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914400"/>
            <a:ext cx="4206240" cy="1828800"/>
          </a:xfrm>
          <a:prstGeom prst="roundRect">
            <a:avLst/>
          </a:prstGeom>
          <a:solidFill>
            <a:srgbClr val="15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8D4"/>
                </a:solidFill>
              </a:defRPr>
            </a:pPr>
            <a:r>
              <a:t>工程亮点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3840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6B7B8D"/>
                </a:solidFill>
              </a:defRPr>
            </a:pPr>
            <a:r>
              <a:t>双核异构: V3F采集+V5F推理并行, IPC零拷贝</a:t>
            </a:r>
          </a:p>
          <a:p>
            <a:pPr>
              <a:spcAft>
                <a:spcPts val="400"/>
              </a:spcAft>
              <a:defRPr sz="1000">
                <a:solidFill>
                  <a:srgbClr val="6B7B8D"/>
                </a:solidFill>
              </a:defRPr>
            </a:pPr>
            <a:r>
              <a:t>DISPLAY_CFG按需配置: 节省MCU CPU和带宽</a:t>
            </a:r>
          </a:p>
          <a:p>
            <a:pPr>
              <a:spcAft>
                <a:spcPts val="400"/>
              </a:spcAft>
              <a:defRPr sz="1000">
                <a:solidFill>
                  <a:srgbClr val="6B7B8D"/>
                </a:solidFill>
              </a:defRPr>
            </a:pPr>
            <a:r>
              <a:t>频谱分片: 128点分32片, 避免WiFi丢包</a:t>
            </a:r>
          </a:p>
          <a:p>
            <a:pPr>
              <a:spcAft>
                <a:spcPts val="400"/>
              </a:spcAft>
              <a:defRPr sz="1000">
                <a:solidFill>
                  <a:srgbClr val="6B7B8D"/>
                </a:solidFill>
              </a:defRPr>
            </a:pPr>
            <a:r>
              <a:t>患者端被动化: 命令驱动, 适配AR眼镜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914400"/>
            <a:ext cx="4206240" cy="1828800"/>
          </a:xfrm>
          <a:prstGeom prst="roundRect">
            <a:avLst/>
          </a:prstGeom>
          <a:solidFill>
            <a:srgbClr val="15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10058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800"/>
                </a:solidFill>
              </a:defRPr>
            </a:pPr>
            <a:r>
              <a:t>当前局限 (诚实评估)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280160"/>
            <a:ext cx="3840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6B7B8D"/>
                </a:solidFill>
              </a:defRPr>
            </a:pPr>
            <a:r>
              <a:t>专注度权重为经验设定, 非数据驱动</a:t>
            </a:r>
          </a:p>
          <a:p>
            <a:pPr>
              <a:spcAft>
                <a:spcPts val="400"/>
              </a:spcAft>
              <a:defRPr sz="1000">
                <a:solidFill>
                  <a:srgbClr val="6B7B8D"/>
                </a:solidFill>
              </a:defRPr>
            </a:pPr>
            <a:r>
              <a:t>推理模型受试者少, 泛化性未验证</a:t>
            </a:r>
          </a:p>
          <a:p>
            <a:pPr>
              <a:spcAft>
                <a:spcPts val="400"/>
              </a:spcAft>
              <a:defRPr sz="1000">
                <a:solidFill>
                  <a:srgbClr val="6B7B8D"/>
                </a:solidFill>
              </a:defRPr>
            </a:pPr>
            <a:r>
              <a:t>WiFi热点模式延迟波动, 非硬实时</a:t>
            </a:r>
          </a:p>
          <a:p>
            <a:pPr>
              <a:spcAft>
                <a:spcPts val="400"/>
              </a:spcAft>
              <a:defRPr sz="1000">
                <a:solidFill>
                  <a:srgbClr val="6B7B8D"/>
                </a:solidFill>
              </a:defRPr>
            </a:pPr>
            <a:r>
              <a:t>无电极阻抗监测, 接触不良无法检测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2926080"/>
            <a:ext cx="8778240" cy="1920240"/>
          </a:xfrm>
          <a:prstGeom prst="roundRect">
            <a:avLst/>
          </a:prstGeom>
          <a:solidFill>
            <a:srgbClr val="15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01752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项目定位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37560"/>
            <a:ext cx="8412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6B7B8D"/>
                </a:solidFill>
              </a:defRPr>
            </a:pPr>
            <a:r>
              <a:t>这是一个技术验证平台, 不是临床产品 — 验证了从采集→处理→推理→显示的完整链路可行性</a:t>
            </a:r>
          </a:p>
          <a:p>
            <a:pPr>
              <a:spcAft>
                <a:spcPts val="400"/>
              </a:spcAft>
              <a:defRPr sz="1000">
                <a:solidFill>
                  <a:srgbClr val="6B7B8D"/>
                </a:solidFill>
              </a:defRPr>
            </a:pPr>
            <a:r>
              <a:t>离临床使用还有本质差距: 需要临床试验(伦理审批)、模型大量受试者训练、医疗器械认证(NMPA)</a:t>
            </a:r>
          </a:p>
          <a:p>
            <a:pPr>
              <a:spcAft>
                <a:spcPts val="400"/>
              </a:spcAft>
              <a:defRPr sz="1000">
                <a:solidFill>
                  <a:srgbClr val="6B7B8D"/>
                </a:solidFill>
              </a:defRPr>
            </a:pPr>
            <a:r>
              <a:t>当前价值: 搭通了嵌入式+Android全链路, 暴露了真实工程问题(WiFi延迟/信号质量/模型泛化), 明确了改进方向</a:t>
            </a:r>
          </a:p>
          <a:p>
            <a:pPr>
              <a:spcAft>
                <a:spcPts val="400"/>
              </a:spcAft>
              <a:defRPr sz="1000">
                <a:solidFill>
                  <a:srgbClr val="6B7B8D"/>
                </a:solidFill>
              </a:defRPr>
            </a:pPr>
            <a:r>
              <a:t>改进路线: BLE替代WiFi(低延迟) + 标注数据优化权重 + 电极阻抗监测 + 便携化(锂电池)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谢谢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B8D4"/>
                </a:solidFill>
              </a:defRPr>
            </a:pPr>
            <a: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