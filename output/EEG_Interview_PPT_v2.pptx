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73152" cy="2286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Calibri"/>
              </a:defRPr>
            </a:pPr>
            <a:r>
              <a:t>EEG Brain-Computer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48CAE4"/>
                </a:solidFill>
                <a:latin typeface="Calibri"/>
              </a:defRPr>
            </a:pPr>
            <a:r>
              <a:t>基于CH32H417双核MCU的脑电采集与运动想象识别系统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926080"/>
            <a:ext cx="2286000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D2E0"/>
                </a:solidFill>
                <a:latin typeface="Calibri"/>
              </a:defRPr>
            </a:pPr>
            <a:r>
              <a:t>南京信息工程大学  |  沈笑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8A"/>
                </a:solidFill>
                <a:latin typeface="Calibri"/>
              </a:defRPr>
            </a:pPr>
            <a:r>
              <a:t>电子信息工程（国科大联培）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4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3657600" cy="11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C758A"/>
                </a:solidFill>
                <a:latin typeface="Calibri"/>
              </a:defRPr>
            </a:pPr>
            <a:r>
              <a:t>EEG BCI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5029200"/>
            <a:ext cx="3200400" cy="11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C758A"/>
                </a:solidFill>
                <a:latin typeface="Calibri"/>
              </a:defRPr>
            </a:pPr>
            <a:r>
              <a:t>CH32H417 Dual-Core MCU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Impact"/>
              </a:defRPr>
            </a:pPr>
            <a:r>
              <a:t>CONTENTS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14400"/>
            <a:ext cx="13716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548640" cy="411480"/>
          </a:xfrm>
          <a:prstGeom prst="rect">
            <a:avLst/>
          </a:prstGeom>
          <a:solidFill>
            <a:srgbClr val="141B2D"/>
          </a:solidFill>
          <a:ln w="12700">
            <a:solidFill>
              <a:srgbClr val="1E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B4D8"/>
                </a:solidFill>
                <a:latin typeface="Impact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20700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项目背景与目标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41732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8A"/>
                </a:solidFill>
                <a:latin typeface="Calibri"/>
              </a:defRPr>
            </a:pPr>
            <a:r>
              <a:t>临床需求与技术背景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691640"/>
            <a:ext cx="548640" cy="411480"/>
          </a:xfrm>
          <a:prstGeom prst="rect">
            <a:avLst/>
          </a:prstGeom>
          <a:solidFill>
            <a:srgbClr val="141B2D"/>
          </a:solidFill>
          <a:ln w="12700">
            <a:solidFill>
              <a:srgbClr val="1E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73736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B4D8"/>
                </a:solidFill>
                <a:latin typeface="Impact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170992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硬件架构设计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192024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8A"/>
                </a:solidFill>
                <a:latin typeface="Calibri"/>
              </a:defRPr>
            </a:pPr>
            <a:r>
              <a:t>双核MCU+8通道ADC+IMU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194560"/>
            <a:ext cx="548640" cy="411480"/>
          </a:xfrm>
          <a:prstGeom prst="rect">
            <a:avLst/>
          </a:prstGeom>
          <a:solidFill>
            <a:srgbClr val="141B2D"/>
          </a:solidFill>
          <a:ln w="12700">
            <a:solidFill>
              <a:srgbClr val="1E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2402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B4D8"/>
                </a:solidFill>
                <a:latin typeface="Impact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21284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双核协作架构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242316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8A"/>
                </a:solidFill>
                <a:latin typeface="Calibri"/>
              </a:defRPr>
            </a:pPr>
            <a:r>
              <a:t>V3F采集 + V5F推理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697480"/>
            <a:ext cx="548640" cy="411480"/>
          </a:xfrm>
          <a:prstGeom prst="rect">
            <a:avLst/>
          </a:prstGeom>
          <a:solidFill>
            <a:srgbClr val="141B2D"/>
          </a:solidFill>
          <a:ln w="12700">
            <a:solidFill>
              <a:srgbClr val="1E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7432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B4D8"/>
                </a:solidFill>
                <a:latin typeface="Impact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271576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MCU固件与Android双端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292608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8A"/>
                </a:solidFill>
                <a:latin typeface="Calibri"/>
              </a:defRPr>
            </a:pPr>
            <a:r>
              <a:t>帧协议+页面感知+医患协作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200400"/>
            <a:ext cx="548640" cy="411480"/>
          </a:xfrm>
          <a:prstGeom prst="rect">
            <a:avLst/>
          </a:prstGeom>
          <a:solidFill>
            <a:srgbClr val="141B2D"/>
          </a:solidFill>
          <a:ln w="12700">
            <a:solidFill>
              <a:srgbClr val="1E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2461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B4D8"/>
                </a:solidFill>
                <a:latin typeface="Impact"/>
              </a:defRPr>
            </a:pPr>
            <a: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321868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核心算法与功能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342900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8A"/>
                </a:solidFill>
                <a:latin typeface="Calibri"/>
              </a:defRPr>
            </a:pPr>
            <a:r>
              <a:t>专注度/MI/SSVEP/姿态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703320"/>
            <a:ext cx="548640" cy="411480"/>
          </a:xfrm>
          <a:prstGeom prst="rect">
            <a:avLst/>
          </a:prstGeom>
          <a:solidFill>
            <a:srgbClr val="141B2D"/>
          </a:solidFill>
          <a:ln w="12700">
            <a:solidFill>
              <a:srgbClr val="1E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37490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B4D8"/>
                </a:solidFill>
                <a:latin typeface="Impact"/>
              </a:defRPr>
            </a:pPr>
            <a: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372160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系统演示与成果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393192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8A"/>
                </a:solidFill>
                <a:latin typeface="Calibri"/>
              </a:defRPr>
            </a:pPr>
            <a:r>
              <a:t>性能指标与功能亮点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206240"/>
            <a:ext cx="548640" cy="411480"/>
          </a:xfrm>
          <a:prstGeom prst="rect">
            <a:avLst/>
          </a:prstGeom>
          <a:solidFill>
            <a:srgbClr val="141B2D"/>
          </a:solidFill>
          <a:ln w="12700">
            <a:solidFill>
              <a:srgbClr val="1E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425196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B4D8"/>
                </a:solidFill>
                <a:latin typeface="Impact"/>
              </a:defRPr>
            </a:pPr>
            <a: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" y="422452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项目亮点与规划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443484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8A"/>
                </a:solidFill>
                <a:latin typeface="Calibri"/>
              </a:defRPr>
            </a:pPr>
            <a:r>
              <a:t>国产化+未来方向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0" y="914400"/>
            <a:ext cx="3200400" cy="3840480"/>
          </a:xfrm>
          <a:prstGeom prst="rect">
            <a:avLst/>
          </a:prstGeom>
          <a:solidFill>
            <a:srgbClr val="141B2D"/>
          </a:solidFill>
          <a:ln w="12700">
            <a:solidFill>
              <a:srgbClr val="1E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6072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8CAE4"/>
                </a:solidFill>
                <a:latin typeface="Calibri"/>
              </a:defRPr>
            </a:pPr>
            <a:r>
              <a:t>系统架构概览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60720" y="1645920"/>
            <a:ext cx="2743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06D6A0"/>
                </a:solidFill>
                <a:latin typeface="Calibri"/>
              </a:rPr>
              <a:t>▸ </a:t>
            </a:r>
            <a:r>
              <a:rPr sz="1100">
                <a:solidFill>
                  <a:srgbClr val="CAD2E0"/>
                </a:solidFill>
                <a:latin typeface="Calibri"/>
              </a:rPr>
              <a:t>CH32H417 双核RISC-V MCU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6D6A0"/>
                </a:solidFill>
                <a:latin typeface="Calibri"/>
              </a:rPr>
              <a:t>▸ </a:t>
            </a:r>
            <a:r>
              <a:rPr sz="1100">
                <a:solidFill>
                  <a:srgbClr val="CAD2E0"/>
                </a:solidFill>
                <a:latin typeface="Calibri"/>
              </a:rPr>
              <a:t>ADS1299 8通道24bit EEG ADC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6D6A0"/>
                </a:solidFill>
                <a:latin typeface="Calibri"/>
              </a:rPr>
              <a:t>▸ </a:t>
            </a:r>
            <a:r>
              <a:rPr sz="1100">
                <a:solidFill>
                  <a:srgbClr val="CAD2E0"/>
                </a:solidFill>
                <a:latin typeface="Calibri"/>
              </a:rPr>
              <a:t>ICM-42605 六轴IMU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6D6A0"/>
                </a:solidFill>
                <a:latin typeface="Calibri"/>
              </a:rPr>
              <a:t>▸ </a:t>
            </a:r>
            <a:r>
              <a:rPr sz="1100">
                <a:solidFill>
                  <a:srgbClr val="CAD2E0"/>
                </a:solidFill>
                <a:latin typeface="Calibri"/>
              </a:rPr>
              <a:t>W9825G6KH 32MB SDRAM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6D6A0"/>
                </a:solidFill>
                <a:latin typeface="Calibri"/>
              </a:rPr>
              <a:t>▸ </a:t>
            </a:r>
            <a:r>
              <a:rPr sz="1100">
                <a:solidFill>
                  <a:srgbClr val="CAD2E0"/>
                </a:solidFill>
                <a:latin typeface="Calibri"/>
              </a:rPr>
              <a:t>WiFi透传 TCP多端口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6D6A0"/>
                </a:solidFill>
                <a:latin typeface="Calibri"/>
              </a:rPr>
              <a:t>▸ </a:t>
            </a:r>
            <a:r>
              <a:rPr sz="1100">
                <a:solidFill>
                  <a:srgbClr val="CAD2E0"/>
                </a:solidFill>
                <a:latin typeface="Calibri"/>
              </a:rPr>
              <a:t>Android 医生端+患者端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6D6A0"/>
                </a:solidFill>
                <a:latin typeface="Calibri"/>
              </a:rPr>
              <a:t>▸ </a:t>
            </a:r>
            <a:r>
              <a:rPr sz="1100">
                <a:solidFill>
                  <a:srgbClr val="CAD2E0"/>
                </a:solidFill>
                <a:latin typeface="Calibri"/>
              </a:rPr>
              <a:t>CSP + FFT24 + FBCCA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4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3657600" cy="11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C758A"/>
                </a:solidFill>
                <a:latin typeface="Calibri"/>
              </a:defRPr>
            </a:pPr>
            <a:r>
              <a:t>EEG BCI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5029200"/>
            <a:ext cx="3200400" cy="11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C758A"/>
                </a:solidFill>
                <a:latin typeface="Calibri"/>
              </a:defRPr>
            </a:pPr>
            <a:r>
              <a:t>CH32H417 Dual-Core MCU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8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B4D8"/>
                </a:solidFill>
                <a:latin typeface="Impact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项目背景与目标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731520"/>
            <a:ext cx="109728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005840"/>
            <a:ext cx="2743200" cy="2560320"/>
          </a:xfrm>
          <a:prstGeom prst="rect">
            <a:avLst/>
          </a:prstGeom>
          <a:solidFill>
            <a:srgbClr val="141B2D"/>
          </a:solidFill>
          <a:ln w="12700">
            <a:solidFill>
              <a:srgbClr val="1E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B4D8"/>
                </a:solidFill>
                <a:latin typeface="Calibri"/>
              </a:defRPr>
            </a:pPr>
            <a: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0972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76F"/>
                </a:solidFill>
                <a:latin typeface="Calibri"/>
              </a:defRPr>
            </a:pPr>
            <a:r>
              <a:t>临床需求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417320"/>
            <a:ext cx="2468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00B4D8"/>
                </a:solidFill>
                <a:latin typeface="Calibri"/>
              </a:rPr>
              <a:t>▸ </a:t>
            </a:r>
            <a:r>
              <a:rPr sz="1100">
                <a:solidFill>
                  <a:srgbClr val="CAD2E0"/>
                </a:solidFill>
                <a:latin typeface="Calibri"/>
              </a:rPr>
              <a:t>脑卒中康复缺乏客观评估手段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0B4D8"/>
                </a:solidFill>
                <a:latin typeface="Calibri"/>
              </a:rPr>
              <a:t>▸ </a:t>
            </a:r>
            <a:r>
              <a:rPr sz="1100">
                <a:solidFill>
                  <a:srgbClr val="CAD2E0"/>
                </a:solidFill>
                <a:latin typeface="Calibri"/>
              </a:rPr>
              <a:t>运动想象训练依赖主观判断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0B4D8"/>
                </a:solidFill>
                <a:latin typeface="Calibri"/>
              </a:rPr>
              <a:t>▸ </a:t>
            </a:r>
            <a:r>
              <a:rPr sz="1100">
                <a:solidFill>
                  <a:srgbClr val="CAD2E0"/>
                </a:solidFill>
                <a:latin typeface="Calibri"/>
              </a:rPr>
              <a:t>床旁监护人力成本高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0B4D8"/>
                </a:solidFill>
                <a:latin typeface="Calibri"/>
              </a:rPr>
              <a:t>▸ </a:t>
            </a:r>
            <a:r>
              <a:rPr sz="1100">
                <a:solidFill>
                  <a:srgbClr val="CAD2E0"/>
                </a:solidFill>
                <a:latin typeface="Calibri"/>
              </a:rPr>
              <a:t>实时脑电监测与智能识别空白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1005840"/>
            <a:ext cx="2743200" cy="2560320"/>
          </a:xfrm>
          <a:prstGeom prst="rect">
            <a:avLst/>
          </a:prstGeom>
          <a:solidFill>
            <a:srgbClr val="141B2D"/>
          </a:solidFill>
          <a:ln w="12700">
            <a:solidFill>
              <a:srgbClr val="1E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10972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B4D8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10972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D6A0"/>
                </a:solidFill>
                <a:latin typeface="Calibri"/>
              </a:defRPr>
            </a:pPr>
            <a:r>
              <a:t>技术背景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1417320"/>
            <a:ext cx="2468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00B4D8"/>
                </a:solidFill>
                <a:latin typeface="Calibri"/>
              </a:rPr>
              <a:t>▸ </a:t>
            </a:r>
            <a:r>
              <a:rPr sz="1100">
                <a:solidFill>
                  <a:srgbClr val="CAD2E0"/>
                </a:solidFill>
                <a:latin typeface="Calibri"/>
              </a:rPr>
              <a:t>EEG信号采集与处理技术成熟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0B4D8"/>
                </a:solidFill>
                <a:latin typeface="Calibri"/>
              </a:rPr>
              <a:t>▸ </a:t>
            </a:r>
            <a:r>
              <a:rPr sz="1100">
                <a:solidFill>
                  <a:srgbClr val="CAD2E0"/>
                </a:solidFill>
                <a:latin typeface="Calibri"/>
              </a:rPr>
              <a:t>RISC-V双核MCU性能提升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0B4D8"/>
                </a:solidFill>
                <a:latin typeface="Calibri"/>
              </a:rPr>
              <a:t>▸ </a:t>
            </a:r>
            <a:r>
              <a:rPr sz="1100">
                <a:solidFill>
                  <a:srgbClr val="CAD2E0"/>
                </a:solidFill>
                <a:latin typeface="Calibri"/>
              </a:rPr>
              <a:t>CSP/FBCCA算法已广泛验证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0B4D8"/>
                </a:solidFill>
                <a:latin typeface="Calibri"/>
              </a:rPr>
              <a:t>▸ </a:t>
            </a:r>
            <a:r>
              <a:rPr sz="1100">
                <a:solidFill>
                  <a:srgbClr val="CAD2E0"/>
                </a:solidFill>
                <a:latin typeface="Calibri"/>
              </a:rPr>
              <a:t>移动端实时显示技术可行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005840"/>
            <a:ext cx="2560320" cy="2560320"/>
          </a:xfrm>
          <a:prstGeom prst="rect">
            <a:avLst/>
          </a:prstGeom>
          <a:solidFill>
            <a:srgbClr val="141B2D"/>
          </a:solidFill>
          <a:ln w="12700">
            <a:solidFill>
              <a:srgbClr val="1E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0972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B4D8"/>
                </a:solidFill>
                <a:latin typeface="Calibri"/>
              </a:defRPr>
            </a:pPr>
            <a:r>
              <a:t>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1097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8CAE4"/>
                </a:solidFill>
                <a:latin typeface="Calibri"/>
              </a:defRPr>
            </a:pPr>
            <a:r>
              <a:t>项目目标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1417320"/>
            <a:ext cx="22860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00B4D8"/>
                </a:solidFill>
                <a:latin typeface="Calibri"/>
              </a:rPr>
              <a:t>▸ </a:t>
            </a:r>
            <a:r>
              <a:rPr sz="1100">
                <a:solidFill>
                  <a:srgbClr val="CAD2E0"/>
                </a:solidFill>
                <a:latin typeface="Calibri"/>
              </a:rPr>
              <a:t>双核MCU脑电采集+MI识别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0B4D8"/>
                </a:solidFill>
                <a:latin typeface="Calibri"/>
              </a:rPr>
              <a:t>▸ </a:t>
            </a:r>
            <a:r>
              <a:rPr sz="1100">
                <a:solidFill>
                  <a:srgbClr val="CAD2E0"/>
                </a:solidFill>
                <a:latin typeface="Calibri"/>
              </a:rPr>
              <a:t>五大功能: 波形/专注度/SSVEP/MI/姿态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0B4D8"/>
                </a:solidFill>
                <a:latin typeface="Calibri"/>
              </a:rPr>
              <a:t>▸ </a:t>
            </a:r>
            <a:r>
              <a:rPr sz="1100">
                <a:solidFill>
                  <a:srgbClr val="CAD2E0"/>
                </a:solidFill>
                <a:latin typeface="Calibri"/>
              </a:rPr>
              <a:t>医生端+患者端双App协作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0B4D8"/>
                </a:solidFill>
                <a:latin typeface="Calibri"/>
              </a:rPr>
              <a:t>▸ </a:t>
            </a:r>
            <a:r>
              <a:rPr sz="1100">
                <a:solidFill>
                  <a:srgbClr val="CAD2E0"/>
                </a:solidFill>
                <a:latin typeface="Calibri"/>
              </a:rPr>
              <a:t>国产化硬件，成本可控可量产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840480"/>
            <a:ext cx="8412480" cy="731520"/>
          </a:xfrm>
          <a:prstGeom prst="rect">
            <a:avLst/>
          </a:prstGeom>
          <a:solidFill>
            <a:srgbClr val="141B2D"/>
          </a:solidFill>
          <a:ln w="12700">
            <a:solidFill>
              <a:srgbClr val="1E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886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4D8"/>
                </a:solidFill>
                <a:latin typeface="Calibri"/>
              </a:defRPr>
            </a:pPr>
            <a:r>
              <a:t>核心价值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16052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2E0"/>
                </a:solidFill>
                <a:latin typeface="Calibri"/>
              </a:defRPr>
            </a:pPr>
            <a:r>
              <a:t>端侧实时推理 + 医患远程协作 + 全链路国产化 = 可量产临床级BCI康复系统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4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3657600" cy="11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C758A"/>
                </a:solidFill>
                <a:latin typeface="Calibri"/>
              </a:defRPr>
            </a:pPr>
            <a:r>
              <a:t>EEG BCI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5029200"/>
            <a:ext cx="3200400" cy="11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C758A"/>
                </a:solidFill>
                <a:latin typeface="Calibri"/>
              </a:defRPr>
            </a:pPr>
            <a:r>
              <a:t>CH32H417 Dual-Core MCU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8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B4D8"/>
                </a:solidFill>
                <a:latin typeface="Impact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硬件架构设计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731520"/>
            <a:ext cx="109728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005840"/>
            <a:ext cx="2697480" cy="1737360"/>
          </a:xfrm>
          <a:prstGeom prst="rect">
            <a:avLst/>
          </a:prstGeom>
          <a:solidFill>
            <a:srgbClr val="141B2D"/>
          </a:solidFill>
          <a:ln w="12700">
            <a:solidFill>
              <a:srgbClr val="1E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005840"/>
            <a:ext cx="269748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1155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Calibri"/>
              </a:defRPr>
            </a:pPr>
            <a:r>
              <a:t>CH32H417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3716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8A"/>
                </a:solidFill>
                <a:latin typeface="Calibri"/>
              </a:defRPr>
            </a:pPr>
            <a:r>
              <a:t>双核MCU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600200"/>
            <a:ext cx="2423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00B4D8"/>
                </a:solidFill>
                <a:latin typeface="Calibri"/>
              </a:rPr>
              <a:t>▸ </a:t>
            </a:r>
            <a:r>
              <a:rPr sz="1000">
                <a:solidFill>
                  <a:srgbClr val="CAD2E0"/>
                </a:solidFill>
                <a:latin typeface="Calibri"/>
              </a:rPr>
              <a:t>V3F: 100MHz 采集+FFT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00B4D8"/>
                </a:solidFill>
                <a:latin typeface="Calibri"/>
              </a:rPr>
              <a:t>▸ </a:t>
            </a:r>
            <a:r>
              <a:rPr sz="1000">
                <a:solidFill>
                  <a:srgbClr val="CAD2E0"/>
                </a:solidFill>
                <a:latin typeface="Calibri"/>
              </a:rPr>
              <a:t>V5F: 400MHz MI推理+CSP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00B4D8"/>
                </a:solidFill>
                <a:latin typeface="Calibri"/>
              </a:rPr>
              <a:t>▸ </a:t>
            </a:r>
            <a:r>
              <a:rPr sz="1000">
                <a:solidFill>
                  <a:srgbClr val="CAD2E0"/>
                </a:solidFill>
                <a:latin typeface="Calibri"/>
              </a:rPr>
              <a:t>IPC双核协作架构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6120" y="1005840"/>
            <a:ext cx="2697480" cy="1737360"/>
          </a:xfrm>
          <a:prstGeom prst="rect">
            <a:avLst/>
          </a:prstGeom>
          <a:solidFill>
            <a:srgbClr val="141B2D"/>
          </a:solidFill>
          <a:ln w="12700">
            <a:solidFill>
              <a:srgbClr val="1E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46120" y="1005840"/>
            <a:ext cx="2697480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11155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D6A0"/>
                </a:solidFill>
                <a:latin typeface="Calibri"/>
              </a:defRPr>
            </a:pPr>
            <a:r>
              <a:t>ADS1299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13716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8A"/>
                </a:solidFill>
                <a:latin typeface="Calibri"/>
              </a:defRPr>
            </a:pPr>
            <a:r>
              <a:t>EEG ADC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1600200"/>
            <a:ext cx="2423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06D6A0"/>
                </a:solidFill>
                <a:latin typeface="Calibri"/>
              </a:rPr>
              <a:t>▸ </a:t>
            </a:r>
            <a:r>
              <a:rPr sz="1000">
                <a:solidFill>
                  <a:srgbClr val="CAD2E0"/>
                </a:solidFill>
                <a:latin typeface="Calibri"/>
              </a:rPr>
              <a:t>8通道 24bit 250SPS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06D6A0"/>
                </a:solidFill>
                <a:latin typeface="Calibri"/>
              </a:rPr>
              <a:t>▸ </a:t>
            </a:r>
            <a:r>
              <a:rPr sz="1000">
                <a:solidFill>
                  <a:srgbClr val="CAD2E0"/>
                </a:solidFill>
                <a:latin typeface="Calibri"/>
              </a:rPr>
              <a:t>SPI3+DMA高速采集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06D6A0"/>
                </a:solidFill>
                <a:latin typeface="Calibri"/>
              </a:rPr>
              <a:t>▸ </a:t>
            </a:r>
            <a:r>
              <a:rPr sz="1000">
                <a:solidFill>
                  <a:srgbClr val="CAD2E0"/>
                </a:solidFill>
                <a:latin typeface="Calibri"/>
              </a:rPr>
              <a:t>右腿参考驱动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1005840"/>
            <a:ext cx="2697480" cy="1737360"/>
          </a:xfrm>
          <a:prstGeom prst="rect">
            <a:avLst/>
          </a:prstGeom>
          <a:solidFill>
            <a:srgbClr val="141B2D"/>
          </a:solidFill>
          <a:ln w="12700">
            <a:solidFill>
              <a:srgbClr val="1E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1005840"/>
            <a:ext cx="2697480" cy="36576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11155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166"/>
                </a:solidFill>
                <a:latin typeface="Calibri"/>
              </a:defRPr>
            </a:pPr>
            <a:r>
              <a:t>ICM-42605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13716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8A"/>
                </a:solidFill>
                <a:latin typeface="Calibri"/>
              </a:defRPr>
            </a:pPr>
            <a:r>
              <a:t>IMU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1600200"/>
            <a:ext cx="2423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FFD166"/>
                </a:solidFill>
                <a:latin typeface="Calibri"/>
              </a:rPr>
              <a:t>▸ </a:t>
            </a:r>
            <a:r>
              <a:rPr sz="1000">
                <a:solidFill>
                  <a:srgbClr val="CAD2E0"/>
                </a:solidFill>
                <a:latin typeface="Calibri"/>
              </a:rPr>
              <a:t>六轴姿态传感器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FD166"/>
                </a:solidFill>
                <a:latin typeface="Calibri"/>
              </a:rPr>
              <a:t>▸ </a:t>
            </a:r>
            <a:r>
              <a:rPr sz="1000">
                <a:solidFill>
                  <a:srgbClr val="CAD2E0"/>
                </a:solidFill>
                <a:latin typeface="Calibri"/>
              </a:rPr>
              <a:t>坠床/翻身/久坐检测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FD166"/>
                </a:solidFill>
                <a:latin typeface="Calibri"/>
              </a:rPr>
              <a:t>▸ </a:t>
            </a:r>
            <a:r>
              <a:rPr sz="1000">
                <a:solidFill>
                  <a:srgbClr val="CAD2E0"/>
                </a:solidFill>
                <a:latin typeface="Calibri"/>
              </a:rPr>
              <a:t>SPI4接口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2926080"/>
            <a:ext cx="2697480" cy="1737360"/>
          </a:xfrm>
          <a:prstGeom prst="rect">
            <a:avLst/>
          </a:prstGeom>
          <a:solidFill>
            <a:srgbClr val="141B2D"/>
          </a:solidFill>
          <a:ln w="12700">
            <a:solidFill>
              <a:srgbClr val="1E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2926080"/>
            <a:ext cx="2697480" cy="36576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0358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8CAE4"/>
                </a:solidFill>
                <a:latin typeface="Calibri"/>
              </a:defRPr>
            </a:pPr>
            <a:r>
              <a:t>W9825G6KH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32918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8A"/>
                </a:solidFill>
                <a:latin typeface="Calibri"/>
              </a:defRPr>
            </a:pPr>
            <a:r>
              <a:t>SDRAM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3520440"/>
            <a:ext cx="2423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48CAE4"/>
                </a:solidFill>
                <a:latin typeface="Calibri"/>
              </a:rPr>
              <a:t>▸ </a:t>
            </a:r>
            <a:r>
              <a:rPr sz="1000">
                <a:solidFill>
                  <a:srgbClr val="CAD2E0"/>
                </a:solidFill>
                <a:latin typeface="Calibri"/>
              </a:rPr>
              <a:t>32MB FMC Bank5/6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48CAE4"/>
                </a:solidFill>
                <a:latin typeface="Calibri"/>
              </a:rPr>
              <a:t>▸ </a:t>
            </a:r>
            <a:r>
              <a:rPr sz="1000">
                <a:solidFill>
                  <a:srgbClr val="CAD2E0"/>
                </a:solidFill>
                <a:latin typeface="Calibri"/>
              </a:rPr>
              <a:t>模型权重加载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48CAE4"/>
                </a:solidFill>
                <a:latin typeface="Calibri"/>
              </a:rPr>
              <a:t>▸ </a:t>
            </a:r>
            <a:r>
              <a:rPr sz="1000">
                <a:solidFill>
                  <a:srgbClr val="CAD2E0"/>
                </a:solidFill>
                <a:latin typeface="Calibri"/>
              </a:rPr>
              <a:t>CSP特征缓存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46120" y="2926080"/>
            <a:ext cx="2697480" cy="1737360"/>
          </a:xfrm>
          <a:prstGeom prst="rect">
            <a:avLst/>
          </a:prstGeom>
          <a:solidFill>
            <a:srgbClr val="141B2D"/>
          </a:solidFill>
          <a:ln w="12700">
            <a:solidFill>
              <a:srgbClr val="1E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46120" y="2926080"/>
            <a:ext cx="2697480" cy="36576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83280" y="30358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B86FC"/>
                </a:solidFill>
                <a:latin typeface="Calibri"/>
              </a:defRPr>
            </a:pPr>
            <a:r>
              <a:t>WiFi透传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0" y="32918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8A"/>
                </a:solidFill>
                <a:latin typeface="Calibri"/>
              </a:defRPr>
            </a:pPr>
            <a:r>
              <a:t>通信模块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3520440"/>
            <a:ext cx="2423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BB86FC"/>
                </a:solidFill>
                <a:latin typeface="Calibri"/>
              </a:rPr>
              <a:t>▸ </a:t>
            </a:r>
            <a:r>
              <a:rPr sz="1000">
                <a:solidFill>
                  <a:srgbClr val="CAD2E0"/>
                </a:solidFill>
                <a:latin typeface="Calibri"/>
              </a:rPr>
              <a:t>USART2 2M波特率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BB86FC"/>
                </a:solidFill>
                <a:latin typeface="Calibri"/>
              </a:rPr>
              <a:t>▸ </a:t>
            </a:r>
            <a:r>
              <a:rPr sz="1000">
                <a:solidFill>
                  <a:srgbClr val="CAD2E0"/>
                </a:solidFill>
                <a:latin typeface="Calibri"/>
              </a:rPr>
              <a:t>TCP多端口并行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BB86FC"/>
                </a:solidFill>
                <a:latin typeface="Calibri"/>
              </a:rPr>
              <a:t>▸ </a:t>
            </a:r>
            <a:r>
              <a:rPr sz="1000">
                <a:solidFill>
                  <a:srgbClr val="CAD2E0"/>
                </a:solidFill>
                <a:latin typeface="Calibri"/>
              </a:rPr>
              <a:t>与Android通信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6480" y="2926080"/>
            <a:ext cx="2697480" cy="1737360"/>
          </a:xfrm>
          <a:prstGeom prst="rect">
            <a:avLst/>
          </a:prstGeom>
          <a:solidFill>
            <a:srgbClr val="141B2D"/>
          </a:solidFill>
          <a:ln w="12700">
            <a:solidFill>
              <a:srgbClr val="1E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26480" y="2926080"/>
            <a:ext cx="2697480" cy="36576"/>
          </a:xfrm>
          <a:prstGeom prst="rect">
            <a:avLst/>
          </a:prstGeom>
          <a:solidFill>
            <a:srgbClr val="FF8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63640" y="30358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57D"/>
                </a:solidFill>
                <a:latin typeface="Calibri"/>
              </a:defRPr>
            </a:pPr>
            <a:r>
              <a:t>SD卡+OLED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32918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8A"/>
                </a:solidFill>
                <a:latin typeface="Calibri"/>
              </a:defRPr>
            </a:pPr>
            <a:r>
              <a:t>存储显示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3520440"/>
            <a:ext cx="2423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FF857D"/>
                </a:solidFill>
                <a:latin typeface="Calibri"/>
              </a:rPr>
              <a:t>▸ </a:t>
            </a:r>
            <a:r>
              <a:rPr sz="1000">
                <a:solidFill>
                  <a:srgbClr val="CAD2E0"/>
                </a:solidFill>
                <a:latin typeface="Calibri"/>
              </a:rPr>
              <a:t>SDMMC离线存储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F857D"/>
                </a:solidFill>
                <a:latin typeface="Calibri"/>
              </a:rPr>
              <a:t>▸ </a:t>
            </a:r>
            <a:r>
              <a:rPr sz="1000">
                <a:solidFill>
                  <a:srgbClr val="CAD2E0"/>
                </a:solidFill>
                <a:latin typeface="Calibri"/>
              </a:rPr>
              <a:t>1.3寸128x64本地显示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F857D"/>
                </a:solidFill>
                <a:latin typeface="Calibri"/>
              </a:rPr>
              <a:t>▸ </a:t>
            </a:r>
            <a:r>
              <a:rPr sz="1000">
                <a:solidFill>
                  <a:srgbClr val="CAD2E0"/>
                </a:solidFill>
                <a:latin typeface="Calibri"/>
              </a:rPr>
              <a:t>模型/日志存储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4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3657600" cy="11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C758A"/>
                </a:solidFill>
                <a:latin typeface="Calibri"/>
              </a:defRPr>
            </a:pPr>
            <a:r>
              <a:t>EEG BCI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5029200"/>
            <a:ext cx="3200400" cy="11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C758A"/>
                </a:solidFill>
                <a:latin typeface="Calibri"/>
              </a:defRPr>
            </a:pPr>
            <a:r>
              <a:t>CH32H417 Dual-Core MCU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8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B4D8"/>
                </a:solidFill>
                <a:latin typeface="Impact"/>
              </a:defRPr>
            </a:pPr>
            <a: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双核协作架构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731520"/>
            <a:ext cx="109728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005840"/>
            <a:ext cx="3931920" cy="2743200"/>
          </a:xfrm>
          <a:prstGeom prst="rect">
            <a:avLst/>
          </a:prstGeom>
          <a:solidFill>
            <a:srgbClr val="141B2D"/>
          </a:solidFill>
          <a:ln w="12700">
            <a:solidFill>
              <a:srgbClr val="1E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005840"/>
            <a:ext cx="393192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097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Calibri"/>
              </a:defRPr>
            </a:pPr>
            <a:r>
              <a:t>V3F (100MHz) — 采集与处理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463040"/>
            <a:ext cx="3566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00B4D8"/>
                </a:solidFill>
                <a:latin typeface="Calibri"/>
              </a:rPr>
              <a:t>▸ </a:t>
            </a:r>
            <a:r>
              <a:rPr sz="1100">
                <a:solidFill>
                  <a:srgbClr val="CAD2E0"/>
                </a:solidFill>
                <a:latin typeface="Calibri"/>
              </a:rPr>
              <a:t>ADS1299 8通道EEG采集驱动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0B4D8"/>
                </a:solidFill>
                <a:latin typeface="Calibri"/>
              </a:rPr>
              <a:t>▸ </a:t>
            </a:r>
            <a:r>
              <a:rPr sz="1100">
                <a:solidFill>
                  <a:srgbClr val="CAD2E0"/>
                </a:solidFill>
                <a:latin typeface="Calibri"/>
              </a:rPr>
              <a:t>50Hz陷波滤波器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0B4D8"/>
                </a:solidFill>
                <a:latin typeface="Calibri"/>
              </a:rPr>
              <a:t>▸ </a:t>
            </a:r>
            <a:r>
              <a:rPr sz="1100">
                <a:solidFill>
                  <a:srgbClr val="CAD2E0"/>
                </a:solidFill>
                <a:latin typeface="Calibri"/>
              </a:rPr>
              <a:t>FFT频谱计算 (128点)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0B4D8"/>
                </a:solidFill>
                <a:latin typeface="Calibri"/>
              </a:rPr>
              <a:t>▸ </a:t>
            </a:r>
            <a:r>
              <a:rPr sz="1100">
                <a:solidFill>
                  <a:srgbClr val="CAD2E0"/>
                </a:solidFill>
                <a:latin typeface="Calibri"/>
              </a:rPr>
              <a:t>专注度计算 (6通道加权)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0B4D8"/>
                </a:solidFill>
                <a:latin typeface="Calibri"/>
              </a:rPr>
              <a:t>▸ </a:t>
            </a:r>
            <a:r>
              <a:rPr sz="1100">
                <a:solidFill>
                  <a:srgbClr val="CAD2E0"/>
                </a:solidFill>
                <a:latin typeface="Calibri"/>
              </a:rPr>
              <a:t>姿态检测 (ICM42605)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0B4D8"/>
                </a:solidFill>
                <a:latin typeface="Calibri"/>
              </a:rPr>
              <a:t>▸ </a:t>
            </a:r>
            <a:r>
              <a:rPr sz="1100">
                <a:solidFill>
                  <a:srgbClr val="CAD2E0"/>
                </a:solidFill>
                <a:latin typeface="Calibri"/>
              </a:rPr>
              <a:t>数据帧编码+串口发送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0B4D8"/>
                </a:solidFill>
                <a:latin typeface="Calibri"/>
              </a:rPr>
              <a:t>▸ </a:t>
            </a:r>
            <a:r>
              <a:rPr sz="1100">
                <a:solidFill>
                  <a:srgbClr val="CAD2E0"/>
                </a:solidFill>
                <a:latin typeface="Calibri"/>
              </a:rPr>
              <a:t>DISPLAY_CFG页面感知策略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1005840"/>
            <a:ext cx="3931920" cy="2743200"/>
          </a:xfrm>
          <a:prstGeom prst="rect">
            <a:avLst/>
          </a:prstGeom>
          <a:solidFill>
            <a:srgbClr val="141B2D"/>
          </a:solidFill>
          <a:ln w="12700">
            <a:solidFill>
              <a:srgbClr val="1E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46320" y="1005840"/>
            <a:ext cx="3931920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1097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D6A0"/>
                </a:solidFill>
                <a:latin typeface="Calibri"/>
              </a:defRPr>
            </a:pPr>
            <a:r>
              <a:t>V5F (400MHz) — 推理与识别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1463040"/>
            <a:ext cx="3566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06D6A0"/>
                </a:solidFill>
                <a:latin typeface="Calibri"/>
              </a:rPr>
              <a:t>▸ </a:t>
            </a:r>
            <a:r>
              <a:rPr sz="1100">
                <a:solidFill>
                  <a:srgbClr val="CAD2E0"/>
                </a:solidFill>
                <a:latin typeface="Calibri"/>
              </a:rPr>
              <a:t>CSP特征提取 (4通道)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6D6A0"/>
                </a:solidFill>
                <a:latin typeface="Calibri"/>
              </a:rPr>
              <a:t>▸ </a:t>
            </a:r>
            <a:r>
              <a:rPr sz="1100">
                <a:solidFill>
                  <a:srgbClr val="CAD2E0"/>
                </a:solidFill>
                <a:latin typeface="Calibri"/>
              </a:rPr>
              <a:t>FFT24方向分类器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6D6A0"/>
                </a:solidFill>
                <a:latin typeface="Calibri"/>
              </a:rPr>
              <a:t>▸ </a:t>
            </a:r>
            <a:r>
              <a:rPr sz="1100">
                <a:solidFill>
                  <a:srgbClr val="CAD2E0"/>
                </a:solidFill>
                <a:latin typeface="Calibri"/>
              </a:rPr>
              <a:t>模型权重从SDRAM加载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6D6A0"/>
                </a:solidFill>
                <a:latin typeface="Calibri"/>
              </a:rPr>
              <a:t>▸ </a:t>
            </a:r>
            <a:r>
              <a:rPr sz="1100">
                <a:solidFill>
                  <a:srgbClr val="CAD2E0"/>
                </a:solidFill>
                <a:latin typeface="Calibri"/>
              </a:rPr>
              <a:t>推理结果通过IPC传回V3F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6D6A0"/>
                </a:solidFill>
                <a:latin typeface="Calibri"/>
              </a:rPr>
              <a:t>▸ </a:t>
            </a:r>
            <a:r>
              <a:rPr sz="1100">
                <a:solidFill>
                  <a:srgbClr val="CAD2E0"/>
                </a:solidFill>
                <a:latin typeface="Calibri"/>
              </a:rPr>
              <a:t>SSVEP FBCCA频率识别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6D6A0"/>
                </a:solidFill>
                <a:latin typeface="Calibri"/>
              </a:rPr>
              <a:t>▸ </a:t>
            </a:r>
            <a:r>
              <a:rPr sz="1100">
                <a:solidFill>
                  <a:srgbClr val="CAD2E0"/>
                </a:solidFill>
                <a:latin typeface="Calibri"/>
              </a:rPr>
              <a:t>训练/推理模式切换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6D6A0"/>
                </a:solidFill>
                <a:latin typeface="Calibri"/>
              </a:rPr>
              <a:t>▸ </a:t>
            </a:r>
            <a:r>
              <a:rPr sz="1100">
                <a:solidFill>
                  <a:srgbClr val="CAD2E0"/>
                </a:solidFill>
                <a:latin typeface="Calibri"/>
              </a:rPr>
              <a:t>双核数据同步与互锁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31920" y="2011680"/>
            <a:ext cx="1280160" cy="548640"/>
          </a:xfrm>
          <a:prstGeom prst="rect">
            <a:avLst/>
          </a:prstGeom>
          <a:solidFill>
            <a:srgbClr val="1E2A42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31920" y="20574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48CAE4"/>
                </a:solidFill>
                <a:latin typeface="Calibri"/>
              </a:defRPr>
            </a:pPr>
            <a:r>
              <a:t>IPC</a:t>
            </a:r>
            <a:br/>
            <a:r>
              <a:t>共享内存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931920"/>
            <a:ext cx="8412480" cy="640080"/>
          </a:xfrm>
          <a:prstGeom prst="rect">
            <a:avLst/>
          </a:prstGeom>
          <a:solidFill>
            <a:srgbClr val="141B2D"/>
          </a:solidFill>
          <a:ln w="12700">
            <a:solidFill>
              <a:srgbClr val="1E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977639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8CAE4"/>
                </a:solidFill>
                <a:latin typeface="Calibri"/>
              </a:defRPr>
            </a:pPr>
            <a:r>
              <a:t>IPC共享内存 + 双核中断同步机制  |  V3F负责实时采集与信号处理  |  V5F负责AI推理与模式识别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4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3657600" cy="11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C758A"/>
                </a:solidFill>
                <a:latin typeface="Calibri"/>
              </a:defRPr>
            </a:pPr>
            <a:r>
              <a:t>EEG BCI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5029200"/>
            <a:ext cx="3200400" cy="11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C758A"/>
                </a:solidFill>
                <a:latin typeface="Calibri"/>
              </a:defRPr>
            </a:pPr>
            <a:r>
              <a:t>CH32H417 Dual-Core MCU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8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B4D8"/>
                </a:solidFill>
                <a:latin typeface="Impact"/>
              </a:defRPr>
            </a:pPr>
            <a: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MCU固件架构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731520"/>
            <a:ext cx="109728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005840"/>
            <a:ext cx="2697480" cy="1828800"/>
          </a:xfrm>
          <a:prstGeom prst="rect">
            <a:avLst/>
          </a:prstGeom>
          <a:solidFill>
            <a:srgbClr val="141B2D"/>
          </a:solidFill>
          <a:ln w="12700">
            <a:solidFill>
              <a:srgbClr val="1E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Calibri"/>
              </a:defRPr>
            </a:pPr>
            <a:r>
              <a:t>数据采集层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417320"/>
            <a:ext cx="24231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00B4D8"/>
                </a:solidFill>
                <a:latin typeface="Calibri"/>
              </a:rPr>
              <a:t>▸ </a:t>
            </a:r>
            <a:r>
              <a:rPr sz="1100">
                <a:solidFill>
                  <a:srgbClr val="CAD2E0"/>
                </a:solidFill>
                <a:latin typeface="Calibri"/>
              </a:rPr>
              <a:t>ADS1299 SPI3+DMA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0B4D8"/>
                </a:solidFill>
                <a:latin typeface="Calibri"/>
              </a:rPr>
              <a:t>▸ </a:t>
            </a:r>
            <a:r>
              <a:rPr sz="1100">
                <a:solidFill>
                  <a:srgbClr val="CAD2E0"/>
                </a:solidFill>
                <a:latin typeface="Calibri"/>
              </a:rPr>
              <a:t>ICM42605 SPI4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0B4D8"/>
                </a:solidFill>
                <a:latin typeface="Calibri"/>
              </a:rPr>
              <a:t>▸ </a:t>
            </a:r>
            <a:r>
              <a:rPr sz="1100">
                <a:solidFill>
                  <a:srgbClr val="CAD2E0"/>
                </a:solidFill>
                <a:latin typeface="Calibri"/>
              </a:rPr>
              <a:t>帧协议解析编码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0B4D8"/>
                </a:solidFill>
                <a:latin typeface="Calibri"/>
              </a:rPr>
              <a:t>▸ </a:t>
            </a:r>
            <a:r>
              <a:rPr sz="1100">
                <a:solidFill>
                  <a:srgbClr val="CAD2E0"/>
                </a:solidFill>
                <a:latin typeface="Calibri"/>
              </a:rPr>
              <a:t>通道映射与缓冲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1005840"/>
            <a:ext cx="2697480" cy="1828800"/>
          </a:xfrm>
          <a:prstGeom prst="rect">
            <a:avLst/>
          </a:prstGeom>
          <a:solidFill>
            <a:srgbClr val="141B2D"/>
          </a:solidFill>
          <a:ln w="12700">
            <a:solidFill>
              <a:srgbClr val="1E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09728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D6A0"/>
                </a:solidFill>
                <a:latin typeface="Calibri"/>
              </a:defRPr>
            </a:pPr>
            <a:r>
              <a:t>信号处理层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1417320"/>
            <a:ext cx="24231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00B4D8"/>
                </a:solidFill>
                <a:latin typeface="Calibri"/>
              </a:rPr>
              <a:t>▸ </a:t>
            </a:r>
            <a:r>
              <a:rPr sz="1100">
                <a:solidFill>
                  <a:srgbClr val="CAD2E0"/>
                </a:solidFill>
                <a:latin typeface="Calibri"/>
              </a:rPr>
              <a:t>50Hz陷波+FFT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0B4D8"/>
                </a:solidFill>
                <a:latin typeface="Calibri"/>
              </a:rPr>
              <a:t>▸ </a:t>
            </a:r>
            <a:r>
              <a:rPr sz="1100">
                <a:solidFill>
                  <a:srgbClr val="CAD2E0"/>
                </a:solidFill>
                <a:latin typeface="Calibri"/>
              </a:rPr>
              <a:t>专注度6通道加权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0B4D8"/>
                </a:solidFill>
                <a:latin typeface="Calibri"/>
              </a:rPr>
              <a:t>▸ </a:t>
            </a:r>
            <a:r>
              <a:rPr sz="1100">
                <a:solidFill>
                  <a:srgbClr val="CAD2E0"/>
                </a:solidFill>
                <a:latin typeface="Calibri"/>
              </a:rPr>
              <a:t>SSVEP FBCCA识别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0B4D8"/>
                </a:solidFill>
                <a:latin typeface="Calibri"/>
              </a:rPr>
              <a:t>▸ </a:t>
            </a:r>
            <a:r>
              <a:rPr sz="1100">
                <a:solidFill>
                  <a:srgbClr val="CAD2E0"/>
                </a:solidFill>
                <a:latin typeface="Calibri"/>
              </a:rPr>
              <a:t>MI CSP特征提取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005840"/>
            <a:ext cx="2697480" cy="1828800"/>
          </a:xfrm>
          <a:prstGeom prst="rect">
            <a:avLst/>
          </a:prstGeom>
          <a:solidFill>
            <a:srgbClr val="141B2D"/>
          </a:solidFill>
          <a:ln w="12700">
            <a:solidFill>
              <a:srgbClr val="1E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09728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166"/>
                </a:solidFill>
                <a:latin typeface="Calibri"/>
              </a:defRPr>
            </a:pPr>
            <a:r>
              <a:t>通信层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417320"/>
            <a:ext cx="24231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00B4D8"/>
                </a:solidFill>
                <a:latin typeface="Calibri"/>
              </a:rPr>
              <a:t>▸ </a:t>
            </a:r>
            <a:r>
              <a:rPr sz="1100">
                <a:solidFill>
                  <a:srgbClr val="CAD2E0"/>
                </a:solidFill>
                <a:latin typeface="Calibri"/>
              </a:rPr>
              <a:t>USART2 WiFi透传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0B4D8"/>
                </a:solidFill>
                <a:latin typeface="Calibri"/>
              </a:rPr>
              <a:t>▸ </a:t>
            </a:r>
            <a:r>
              <a:rPr sz="1100">
                <a:solidFill>
                  <a:srgbClr val="CAD2E0"/>
                </a:solidFill>
                <a:latin typeface="Calibri"/>
              </a:rPr>
              <a:t>帧协议+8通道编号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0B4D8"/>
                </a:solidFill>
                <a:latin typeface="Calibri"/>
              </a:rPr>
              <a:t>▸ </a:t>
            </a:r>
            <a:r>
              <a:rPr sz="1100">
                <a:solidFill>
                  <a:srgbClr val="CAD2E0"/>
                </a:solidFill>
                <a:latin typeface="Calibri"/>
              </a:rPr>
              <a:t>DISPLAY_CFG动态配置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0B4D8"/>
                </a:solidFill>
                <a:latin typeface="Calibri"/>
              </a:rPr>
              <a:t>▸ </a:t>
            </a:r>
            <a:r>
              <a:rPr sz="1100">
                <a:solidFill>
                  <a:srgbClr val="CAD2E0"/>
                </a:solidFill>
                <a:latin typeface="Calibri"/>
              </a:rPr>
              <a:t>命令解析器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017520"/>
            <a:ext cx="4114800" cy="1645920"/>
          </a:xfrm>
          <a:prstGeom prst="rect">
            <a:avLst/>
          </a:prstGeom>
          <a:solidFill>
            <a:srgbClr val="141B2D"/>
          </a:solidFill>
          <a:ln w="12700">
            <a:solidFill>
              <a:srgbClr val="1E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017520"/>
            <a:ext cx="4114800" cy="36576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108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8CAE4"/>
                </a:solidFill>
                <a:latin typeface="Calibri"/>
              </a:defRPr>
            </a:pPr>
            <a:r>
              <a:t>帧协议设计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383280"/>
            <a:ext cx="374903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48CAE4"/>
                </a:solidFill>
                <a:latin typeface="Calibri"/>
              </a:rPr>
              <a:t>▸ </a:t>
            </a:r>
            <a:r>
              <a:rPr sz="1000">
                <a:solidFill>
                  <a:srgbClr val="CAD2E0"/>
                </a:solidFill>
                <a:latin typeface="Calibri"/>
              </a:rPr>
              <a:t>帧头 0x7E + 转义 0x7D XOR 0x20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48CAE4"/>
                </a:solidFill>
                <a:latin typeface="Calibri"/>
              </a:rPr>
              <a:t>▸ </a:t>
            </a:r>
            <a:r>
              <a:rPr sz="1000">
                <a:solidFill>
                  <a:srgbClr val="CAD2E0"/>
                </a:solidFill>
                <a:latin typeface="Calibri"/>
              </a:rPr>
              <a:t>命令字: RAW_WAVE/FILT_WAVE/SPECTRUM/RESULT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48CAE4"/>
                </a:solidFill>
                <a:latin typeface="Calibri"/>
              </a:rPr>
              <a:t>▸ </a:t>
            </a:r>
            <a:r>
              <a:rPr sz="1000">
                <a:solidFill>
                  <a:srgbClr val="CAD2E0"/>
                </a:solidFill>
                <a:latin typeface="Calibri"/>
              </a:rPr>
              <a:t>单通道包(5B) / 双通道包(10B) / 旧协议(8B)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48CAE4"/>
                </a:solidFill>
                <a:latin typeface="Calibri"/>
              </a:rPr>
              <a:t>▸ </a:t>
            </a:r>
            <a:r>
              <a:rPr sz="1000">
                <a:solidFill>
                  <a:srgbClr val="CAD2E0"/>
                </a:solidFill>
                <a:latin typeface="Calibri"/>
              </a:rPr>
              <a:t>每帧最大256字节，支持多命令拼接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63440" y="3017520"/>
            <a:ext cx="4114800" cy="1645920"/>
          </a:xfrm>
          <a:prstGeom prst="rect">
            <a:avLst/>
          </a:prstGeom>
          <a:solidFill>
            <a:srgbClr val="141B2D"/>
          </a:solidFill>
          <a:ln w="12700">
            <a:solidFill>
              <a:srgbClr val="1E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63440" y="3017520"/>
            <a:ext cx="4114800" cy="36576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0" y="3108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B86FC"/>
                </a:solidFill>
                <a:latin typeface="Calibri"/>
              </a:defRPr>
            </a:pPr>
            <a:r>
              <a:t>DISPLAY_CFG 页面感知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3383280"/>
            <a:ext cx="374903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BB86FC"/>
                </a:solidFill>
                <a:latin typeface="Calibri"/>
              </a:rPr>
              <a:t>▸ </a:t>
            </a:r>
            <a:r>
              <a:rPr sz="1000">
                <a:solidFill>
                  <a:srgbClr val="CAD2E0"/>
                </a:solidFill>
                <a:latin typeface="Calibri"/>
              </a:rPr>
              <a:t>Android端根据当前页面发送配置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BB86FC"/>
                </a:solidFill>
                <a:latin typeface="Calibri"/>
              </a:rPr>
              <a:t>▸ </a:t>
            </a:r>
            <a:r>
              <a:rPr sz="1000">
                <a:solidFill>
                  <a:srgbClr val="CAD2E0"/>
                </a:solidFill>
                <a:latin typeface="Calibri"/>
              </a:rPr>
              <a:t>不需要波形的页面发全NONE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BB86FC"/>
                </a:solidFill>
                <a:latin typeface="Calibri"/>
              </a:rPr>
              <a:t>▸ </a:t>
            </a:r>
            <a:r>
              <a:rPr sz="1000">
                <a:solidFill>
                  <a:srgbClr val="CAD2E0"/>
                </a:solidFill>
                <a:latin typeface="Calibri"/>
              </a:rPr>
              <a:t>MCU端跳过不必要的FFT计算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BB86FC"/>
                </a:solidFill>
                <a:latin typeface="Calibri"/>
              </a:rPr>
              <a:t>▸ </a:t>
            </a:r>
            <a:r>
              <a:rPr sz="1000">
                <a:solidFill>
                  <a:srgbClr val="CAD2E0"/>
                </a:solidFill>
                <a:latin typeface="Calibri"/>
              </a:rPr>
              <a:t>节省CPU资源，降低功耗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4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3657600" cy="11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C758A"/>
                </a:solidFill>
                <a:latin typeface="Calibri"/>
              </a:defRPr>
            </a:pPr>
            <a:r>
              <a:t>EEG BCI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5029200"/>
            <a:ext cx="3200400" cy="11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C758A"/>
                </a:solidFill>
                <a:latin typeface="Calibri"/>
              </a:defRPr>
            </a:pPr>
            <a:r>
              <a:t>CH32H417 Dual-Core MCU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8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B4D8"/>
                </a:solidFill>
                <a:latin typeface="Impact"/>
              </a:defRPr>
            </a:pPr>
            <a: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Android双端架构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731520"/>
            <a:ext cx="109728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005840"/>
            <a:ext cx="4114800" cy="2743200"/>
          </a:xfrm>
          <a:prstGeom prst="rect">
            <a:avLst/>
          </a:prstGeom>
          <a:solidFill>
            <a:srgbClr val="141B2D"/>
          </a:solidFill>
          <a:ln w="12700">
            <a:solidFill>
              <a:srgbClr val="1E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005840"/>
            <a:ext cx="41148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097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Calibri"/>
              </a:defRPr>
            </a:pPr>
            <a:r>
              <a:t>医生端 (9页面)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417320"/>
            <a:ext cx="3749039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00B4D8"/>
                </a:solidFill>
                <a:latin typeface="Calibri"/>
              </a:rPr>
              <a:t>▸ </a:t>
            </a:r>
            <a:r>
              <a:rPr sz="1100">
                <a:solidFill>
                  <a:srgbClr val="CAD2E0"/>
                </a:solidFill>
                <a:latin typeface="Calibri"/>
              </a:rPr>
              <a:t>脑电监测: 实时波形+频谱+4通道对比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0B4D8"/>
                </a:solidFill>
                <a:latin typeface="Calibri"/>
              </a:rPr>
              <a:t>▸ </a:t>
            </a:r>
            <a:r>
              <a:rPr sz="1100">
                <a:solidFill>
                  <a:srgbClr val="CAD2E0"/>
                </a:solidFill>
                <a:latin typeface="Calibri"/>
              </a:rPr>
              <a:t>专注度: 历史曲线+填充+双曲线叠加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0B4D8"/>
                </a:solidFill>
                <a:latin typeface="Calibri"/>
              </a:rPr>
              <a:t>▸ </a:t>
            </a:r>
            <a:r>
              <a:rPr sz="1100">
                <a:solidFill>
                  <a:srgbClr val="CAD2E0"/>
                </a:solidFill>
                <a:latin typeface="Calibri"/>
              </a:rPr>
              <a:t>SSVEP训练: 刺激控制+FBCCA实时评估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0B4D8"/>
                </a:solidFill>
                <a:latin typeface="Calibri"/>
              </a:rPr>
              <a:t>▸ </a:t>
            </a:r>
            <a:r>
              <a:rPr sz="1100">
                <a:solidFill>
                  <a:srgbClr val="CAD2E0"/>
                </a:solidFill>
                <a:latin typeface="Calibri"/>
              </a:rPr>
              <a:t>MI训练: 方向引导+训练数据采集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0B4D8"/>
                </a:solidFill>
                <a:latin typeface="Calibri"/>
              </a:rPr>
              <a:t>▸ </a:t>
            </a:r>
            <a:r>
              <a:rPr sz="1100">
                <a:solidFill>
                  <a:srgbClr val="CAD2E0"/>
                </a:solidFill>
                <a:latin typeface="Calibri"/>
              </a:rPr>
              <a:t>推理: 目标方向生成+自动验证+统计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0B4D8"/>
                </a:solidFill>
                <a:latin typeface="Calibri"/>
              </a:rPr>
              <a:t>▸ </a:t>
            </a:r>
            <a:r>
              <a:rPr sz="1100">
                <a:solidFill>
                  <a:srgbClr val="CAD2E0"/>
                </a:solidFill>
                <a:latin typeface="Calibri"/>
              </a:rPr>
              <a:t>姿态监护: 事件日志+坠床报警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1005840"/>
            <a:ext cx="4114800" cy="2743200"/>
          </a:xfrm>
          <a:prstGeom prst="rect">
            <a:avLst/>
          </a:prstGeom>
          <a:solidFill>
            <a:srgbClr val="141B2D"/>
          </a:solidFill>
          <a:ln w="12700">
            <a:solidFill>
              <a:srgbClr val="1E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63440" y="1005840"/>
            <a:ext cx="4114800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1097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D6A0"/>
                </a:solidFill>
                <a:latin typeface="Calibri"/>
              </a:defRPr>
            </a:pPr>
            <a:r>
              <a:t>患者端 (被动显示)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1417320"/>
            <a:ext cx="3749039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06D6A0"/>
                </a:solidFill>
                <a:latin typeface="Calibri"/>
              </a:rPr>
              <a:t>▸ </a:t>
            </a:r>
            <a:r>
              <a:rPr sz="1100">
                <a:solidFill>
                  <a:srgbClr val="CAD2E0"/>
                </a:solidFill>
                <a:latin typeface="Calibri"/>
              </a:rPr>
              <a:t>推理页: 双箭头(目标+结果)+颜色判断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6D6A0"/>
                </a:solidFill>
                <a:latin typeface="Calibri"/>
              </a:rPr>
              <a:t>▸ </a:t>
            </a:r>
            <a:r>
              <a:rPr sz="1100">
                <a:solidFill>
                  <a:srgbClr val="CAD2E0"/>
                </a:solidFill>
                <a:latin typeface="Calibri"/>
              </a:rPr>
              <a:t>MI训练: 方向箭头引导+进度条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6D6A0"/>
                </a:solidFill>
                <a:latin typeface="Calibri"/>
              </a:rPr>
              <a:t>▸ </a:t>
            </a:r>
            <a:r>
              <a:rPr sz="1100">
                <a:solidFill>
                  <a:srgbClr val="CAD2E0"/>
                </a:solidFill>
                <a:latin typeface="Calibri"/>
              </a:rPr>
              <a:t>SSVEP: 全屏闪烁刺激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6D6A0"/>
                </a:solidFill>
                <a:latin typeface="Calibri"/>
              </a:rPr>
              <a:t>▸ </a:t>
            </a:r>
            <a:r>
              <a:rPr sz="1100">
                <a:solidFill>
                  <a:srgbClr val="CAD2E0"/>
                </a:solidFill>
                <a:latin typeface="Calibri"/>
              </a:rPr>
              <a:t>纯黑背景适配AR眼镜投屏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6D6A0"/>
                </a:solidFill>
                <a:latin typeface="Calibri"/>
              </a:rPr>
              <a:t>▸ </a:t>
            </a:r>
            <a:r>
              <a:rPr sz="1100">
                <a:solidFill>
                  <a:srgbClr val="CAD2E0"/>
                </a:solidFill>
                <a:latin typeface="Calibri"/>
              </a:rPr>
              <a:t>所有页面由医生端远程控制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6D6A0"/>
                </a:solidFill>
                <a:latin typeface="Calibri"/>
              </a:rPr>
              <a:t>▸ </a:t>
            </a:r>
            <a:r>
              <a:rPr sz="1100">
                <a:solidFill>
                  <a:srgbClr val="CAD2E0"/>
                </a:solidFill>
                <a:latin typeface="Calibri"/>
              </a:rPr>
              <a:t>无按钮干扰，纯视觉提示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931920"/>
            <a:ext cx="8412480" cy="640080"/>
          </a:xfrm>
          <a:prstGeom prst="rect">
            <a:avLst/>
          </a:prstGeom>
          <a:solidFill>
            <a:srgbClr val="141B2D"/>
          </a:solidFill>
          <a:ln w="12700">
            <a:solidFill>
              <a:srgbClr val="1E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97763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166"/>
                </a:solidFill>
                <a:latin typeface="Calibri"/>
              </a:defRPr>
            </a:pPr>
            <a:r>
              <a:t>通信架构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20624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AD2E0"/>
                </a:solidFill>
                <a:latin typeface="Calibri"/>
              </a:defRPr>
            </a:pPr>
            <a:r>
              <a:t>41002: MCU→医生端  |  41003: MCU→Python  |  41004: 医生端→患者端数据  |  41006: 医生端→患者端控制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4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3657600" cy="11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C758A"/>
                </a:solidFill>
                <a:latin typeface="Calibri"/>
              </a:defRPr>
            </a:pPr>
            <a:r>
              <a:t>EEG BCI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5029200"/>
            <a:ext cx="3200400" cy="11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C758A"/>
                </a:solidFill>
                <a:latin typeface="Calibri"/>
              </a:defRPr>
            </a:pPr>
            <a:r>
              <a:t>CH32H417 Dual-Core MCU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8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B4D8"/>
                </a:solidFill>
                <a:latin typeface="Impact"/>
              </a:defRPr>
            </a:pPr>
            <a: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核心算法与功能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731520"/>
            <a:ext cx="109728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005840"/>
            <a:ext cx="4160520" cy="1737360"/>
          </a:xfrm>
          <a:prstGeom prst="rect">
            <a:avLst/>
          </a:prstGeom>
          <a:solidFill>
            <a:srgbClr val="141B2D"/>
          </a:solidFill>
          <a:ln w="12700">
            <a:solidFill>
              <a:srgbClr val="1E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005840"/>
            <a:ext cx="54864" cy="17373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097280"/>
            <a:ext cx="3886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Calibri"/>
              </a:defRPr>
            </a:pPr>
            <a:r>
              <a:t>专注度计算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371600"/>
            <a:ext cx="3886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00B4D8"/>
                </a:solidFill>
                <a:latin typeface="Calibri"/>
              </a:rPr>
              <a:t>▸ </a:t>
            </a:r>
            <a:r>
              <a:rPr sz="1000">
                <a:solidFill>
                  <a:srgbClr val="CAD2E0"/>
                </a:solidFill>
                <a:latin typeface="Calibri"/>
              </a:rPr>
              <a:t>6通道加权: F3/F4=0.18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00B4D8"/>
                </a:solidFill>
                <a:latin typeface="Calibri"/>
              </a:rPr>
              <a:t>▸ </a:t>
            </a:r>
            <a:r>
              <a:rPr sz="1000">
                <a:solidFill>
                  <a:srgbClr val="CAD2E0"/>
                </a:solidFill>
                <a:latin typeface="Calibri"/>
              </a:rPr>
              <a:t>CP3/CP4=0.19, C3/C4=0.13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00B4D8"/>
                </a:solidFill>
                <a:latin typeface="Calibri"/>
              </a:rPr>
              <a:t>▸ </a:t>
            </a:r>
            <a:r>
              <a:rPr sz="1000">
                <a:solidFill>
                  <a:srgbClr val="CAD2E0"/>
                </a:solidFill>
                <a:latin typeface="Calibri"/>
              </a:rPr>
              <a:t>OZ/O1权重为0(仅SSVEP)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00B4D8"/>
                </a:solidFill>
                <a:latin typeface="Calibri"/>
              </a:rPr>
              <a:t>▸ </a:t>
            </a:r>
            <a:r>
              <a:rPr sz="1000">
                <a:solidFill>
                  <a:srgbClr val="CAD2E0"/>
                </a:solidFill>
                <a:latin typeface="Calibri"/>
              </a:rPr>
              <a:t>归一化总和1.00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00B4D8"/>
                </a:solidFill>
                <a:latin typeface="Calibri"/>
              </a:rPr>
              <a:t>▸ </a:t>
            </a:r>
            <a:r>
              <a:rPr sz="1000">
                <a:solidFill>
                  <a:srgbClr val="CAD2E0"/>
                </a:solidFill>
                <a:latin typeface="Calibri"/>
              </a:rPr>
              <a:t>EMA指数移动平均平滑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09160" y="1005840"/>
            <a:ext cx="4160520" cy="1737360"/>
          </a:xfrm>
          <a:prstGeom prst="rect">
            <a:avLst/>
          </a:prstGeom>
          <a:solidFill>
            <a:srgbClr val="141B2D"/>
          </a:solidFill>
          <a:ln w="12700">
            <a:solidFill>
              <a:srgbClr val="1E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09160" y="1005840"/>
            <a:ext cx="54864" cy="173736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2040" y="1097280"/>
            <a:ext cx="3886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D6A0"/>
                </a:solidFill>
                <a:latin typeface="Calibri"/>
              </a:defRPr>
            </a:pPr>
            <a:r>
              <a:t>MI方向识别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1371600"/>
            <a:ext cx="3886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06D6A0"/>
                </a:solidFill>
                <a:latin typeface="Calibri"/>
              </a:rPr>
              <a:t>▸ </a:t>
            </a:r>
            <a:r>
              <a:rPr sz="1000">
                <a:solidFill>
                  <a:srgbClr val="CAD2E0"/>
                </a:solidFill>
                <a:latin typeface="Calibri"/>
              </a:rPr>
              <a:t>CSP特征提取 (4通道)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06D6A0"/>
                </a:solidFill>
                <a:latin typeface="Calibri"/>
              </a:rPr>
              <a:t>▸ </a:t>
            </a:r>
            <a:r>
              <a:rPr sz="1000">
                <a:solidFill>
                  <a:srgbClr val="CAD2E0"/>
                </a:solidFill>
                <a:latin typeface="Calibri"/>
              </a:rPr>
              <a:t>FFT24分类器 (V5F运行)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06D6A0"/>
                </a:solidFill>
                <a:latin typeface="Calibri"/>
              </a:rPr>
              <a:t>▸ </a:t>
            </a:r>
            <a:r>
              <a:rPr sz="1000">
                <a:solidFill>
                  <a:srgbClr val="CAD2E0"/>
                </a:solidFill>
                <a:latin typeface="Calibri"/>
              </a:rPr>
              <a:t>模型从SDRAM加载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06D6A0"/>
                </a:solidFill>
                <a:latin typeface="Calibri"/>
              </a:rPr>
              <a:t>▸ </a:t>
            </a:r>
            <a:r>
              <a:rPr sz="1000">
                <a:solidFill>
                  <a:srgbClr val="CAD2E0"/>
                </a:solidFill>
                <a:latin typeface="Calibri"/>
              </a:rPr>
              <a:t>2秒推理窗口+6通道输入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926080"/>
            <a:ext cx="4160520" cy="1737360"/>
          </a:xfrm>
          <a:prstGeom prst="rect">
            <a:avLst/>
          </a:prstGeom>
          <a:solidFill>
            <a:srgbClr val="141B2D"/>
          </a:solidFill>
          <a:ln w="12700">
            <a:solidFill>
              <a:srgbClr val="1E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2926080"/>
            <a:ext cx="54864" cy="173736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017520"/>
            <a:ext cx="3886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166"/>
                </a:solidFill>
                <a:latin typeface="Calibri"/>
              </a:defRPr>
            </a:pPr>
            <a:r>
              <a:t>SSVEP频率识别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291840"/>
            <a:ext cx="3886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FFD166"/>
                </a:solidFill>
                <a:latin typeface="Calibri"/>
              </a:rPr>
              <a:t>▸ </a:t>
            </a:r>
            <a:r>
              <a:rPr sz="1000">
                <a:solidFill>
                  <a:srgbClr val="CAD2E0"/>
                </a:solidFill>
                <a:latin typeface="Calibri"/>
              </a:rPr>
              <a:t>FBCCA滤波器组CCA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FD166"/>
                </a:solidFill>
                <a:latin typeface="Calibri"/>
              </a:rPr>
              <a:t>▸ </a:t>
            </a:r>
            <a:r>
              <a:rPr sz="1000">
                <a:solidFill>
                  <a:srgbClr val="CAD2E0"/>
                </a:solidFill>
                <a:latin typeface="Calibri"/>
              </a:rPr>
              <a:t>4个子带: 6-45/10-45/14-45/18-45Hz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FD166"/>
                </a:solidFill>
                <a:latin typeface="Calibri"/>
              </a:rPr>
              <a:t>▸ </a:t>
            </a:r>
            <a:r>
              <a:rPr sz="1000">
                <a:solidFill>
                  <a:srgbClr val="CAD2E0"/>
                </a:solidFill>
                <a:latin typeface="Calibri"/>
              </a:rPr>
              <a:t>目标频率: 11/13/15/17Hz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FD166"/>
                </a:solidFill>
                <a:latin typeface="Calibri"/>
              </a:rPr>
              <a:t>▸ </a:t>
            </a:r>
            <a:r>
              <a:rPr sz="1000">
                <a:solidFill>
                  <a:srgbClr val="CAD2E0"/>
                </a:solidFill>
                <a:latin typeface="Calibri"/>
              </a:rPr>
              <a:t>投票机制+拒识门限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09160" y="2926080"/>
            <a:ext cx="4160520" cy="1737360"/>
          </a:xfrm>
          <a:prstGeom prst="rect">
            <a:avLst/>
          </a:prstGeom>
          <a:solidFill>
            <a:srgbClr val="141B2D"/>
          </a:solidFill>
          <a:ln w="12700">
            <a:solidFill>
              <a:srgbClr val="1E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09160" y="2926080"/>
            <a:ext cx="54864" cy="173736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92040" y="3017520"/>
            <a:ext cx="3886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76F"/>
                </a:solidFill>
                <a:latin typeface="Calibri"/>
              </a:defRPr>
            </a:pPr>
            <a:r>
              <a:t>姿态监护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3291840"/>
            <a:ext cx="3886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EF476F"/>
                </a:solidFill>
                <a:latin typeface="Calibri"/>
              </a:rPr>
              <a:t>▸ </a:t>
            </a:r>
            <a:r>
              <a:rPr sz="1000">
                <a:solidFill>
                  <a:srgbClr val="CAD2E0"/>
                </a:solidFill>
                <a:latin typeface="Calibri"/>
              </a:rPr>
              <a:t>仰卧/俯卧/左右侧卧/坐姿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EF476F"/>
                </a:solidFill>
                <a:latin typeface="Calibri"/>
              </a:rPr>
              <a:t>▸ </a:t>
            </a:r>
            <a:r>
              <a:rPr sz="1000">
                <a:solidFill>
                  <a:srgbClr val="CAD2E0"/>
                </a:solidFill>
                <a:latin typeface="Calibri"/>
              </a:rPr>
              <a:t>坠床检测+弹窗报警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EF476F"/>
                </a:solidFill>
                <a:latin typeface="Calibri"/>
              </a:rPr>
              <a:t>▸ </a:t>
            </a:r>
            <a:r>
              <a:rPr sz="1000">
                <a:solidFill>
                  <a:srgbClr val="CAD2E0"/>
                </a:solidFill>
                <a:latin typeface="Calibri"/>
              </a:rPr>
              <a:t>久未翻身提醒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EF476F"/>
                </a:solidFill>
                <a:latin typeface="Calibri"/>
              </a:rPr>
              <a:t>▸ </a:t>
            </a:r>
            <a:r>
              <a:rPr sz="1000">
                <a:solidFill>
                  <a:srgbClr val="CAD2E0"/>
                </a:solidFill>
                <a:latin typeface="Calibri"/>
              </a:rPr>
              <a:t>事件日志持续记录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4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3657600" cy="11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C758A"/>
                </a:solidFill>
                <a:latin typeface="Calibri"/>
              </a:defRPr>
            </a:pPr>
            <a:r>
              <a:t>EEG BCI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5029200"/>
            <a:ext cx="3200400" cy="11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C758A"/>
                </a:solidFill>
                <a:latin typeface="Calibri"/>
              </a:defRPr>
            </a:pPr>
            <a:r>
              <a:t>CH32H417 Dual-Core MCU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8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B4D8"/>
                </a:solidFill>
                <a:latin typeface="Impact"/>
              </a:defRPr>
            </a:pPr>
            <a: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系统演示与成果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731520"/>
            <a:ext cx="109728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005840"/>
            <a:ext cx="2697480" cy="1828800"/>
          </a:xfrm>
          <a:prstGeom prst="rect">
            <a:avLst/>
          </a:prstGeom>
          <a:solidFill>
            <a:srgbClr val="141B2D"/>
          </a:solidFill>
          <a:ln w="12700">
            <a:solidFill>
              <a:srgbClr val="1E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005840"/>
            <a:ext cx="269748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115568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Calibri"/>
              </a:defRPr>
            </a:pPr>
            <a:r>
              <a:t>采集性能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4630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8通道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15087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8A"/>
                </a:solidFill>
                <a:latin typeface="Calibri"/>
              </a:defRPr>
            </a:pPr>
            <a:r>
              <a:t>250SPS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1920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24bit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1965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8A"/>
                </a:solidFill>
                <a:latin typeface="Calibri"/>
              </a:defRPr>
            </a:pPr>
            <a:r>
              <a:t>精度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3774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24231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8A"/>
                </a:solidFill>
                <a:latin typeface="Calibri"/>
              </a:defRPr>
            </a:pPr>
            <a:r>
              <a:t>零拷贝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005840"/>
            <a:ext cx="2697480" cy="1828800"/>
          </a:xfrm>
          <a:prstGeom prst="rect">
            <a:avLst/>
          </a:prstGeom>
          <a:solidFill>
            <a:srgbClr val="141B2D"/>
          </a:solidFill>
          <a:ln w="12700">
            <a:solidFill>
              <a:srgbClr val="1E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46120" y="1005840"/>
            <a:ext cx="2697480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3280" y="1115568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D6A0"/>
                </a:solidFill>
                <a:latin typeface="Calibri"/>
              </a:defRPr>
            </a:pPr>
            <a:r>
              <a:t>推理性能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14630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2秒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15087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8A"/>
                </a:solidFill>
                <a:latin typeface="Calibri"/>
              </a:defRPr>
            </a:pPr>
            <a:r>
              <a:t>推理窗口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1920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CSP+FFT24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1965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8A"/>
                </a:solidFill>
                <a:latin typeface="Calibri"/>
              </a:defRPr>
            </a:pPr>
            <a:r>
              <a:t>双模型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23774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万分比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24231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8A"/>
                </a:solidFill>
                <a:latin typeface="Calibri"/>
              </a:defRPr>
            </a:pPr>
            <a:r>
              <a:t>置信度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1005840"/>
            <a:ext cx="2697480" cy="1828800"/>
          </a:xfrm>
          <a:prstGeom prst="rect">
            <a:avLst/>
          </a:prstGeom>
          <a:solidFill>
            <a:srgbClr val="141B2D"/>
          </a:solidFill>
          <a:ln w="12700">
            <a:solidFill>
              <a:srgbClr val="1E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26480" y="1005840"/>
            <a:ext cx="2697480" cy="36576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1115568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166"/>
                </a:solidFill>
                <a:latin typeface="Calibri"/>
              </a:defRPr>
            </a:pPr>
            <a:r>
              <a:t>通信性能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14630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2M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15087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8A"/>
                </a:solidFill>
                <a:latin typeface="Calibri"/>
              </a:defRPr>
            </a:pPr>
            <a:r>
              <a:t>波特率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1920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4端口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1965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8A"/>
                </a:solidFill>
                <a:latin typeface="Calibri"/>
              </a:defRPr>
            </a:pPr>
            <a:r>
              <a:t>并行连接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23774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帧协议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24231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8A"/>
                </a:solidFill>
                <a:latin typeface="Calibri"/>
              </a:defRPr>
            </a:pPr>
            <a:r>
              <a:t>低延迟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017520"/>
            <a:ext cx="8412480" cy="1645920"/>
          </a:xfrm>
          <a:prstGeom prst="rect">
            <a:avLst/>
          </a:prstGeom>
          <a:solidFill>
            <a:srgbClr val="141B2D"/>
          </a:solidFill>
          <a:ln w="12700">
            <a:solidFill>
              <a:srgbClr val="1E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3108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8CAE4"/>
                </a:solidFill>
                <a:latin typeface="Calibri"/>
              </a:defRPr>
            </a:pPr>
            <a:r>
              <a:t>功能演示亮点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3383280"/>
            <a:ext cx="8046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48CAE4"/>
                </a:solidFill>
                <a:latin typeface="Calibri"/>
              </a:rPr>
              <a:t>▸ </a:t>
            </a:r>
            <a:r>
              <a:rPr sz="1100">
                <a:solidFill>
                  <a:srgbClr val="CAD2E0"/>
                </a:solidFill>
                <a:latin typeface="Calibri"/>
              </a:rPr>
              <a:t>实时脑电波形: 8通道同步渲染，支持原始/滤波/基线三种叠加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48CAE4"/>
                </a:solidFill>
                <a:latin typeface="Calibri"/>
              </a:rPr>
              <a:t>▸ </a:t>
            </a:r>
            <a:r>
              <a:rPr sz="1100">
                <a:solidFill>
                  <a:srgbClr val="CAD2E0"/>
                </a:solidFill>
                <a:latin typeface="Calibri"/>
              </a:rPr>
              <a:t>专注度双曲线填充: 平均值更小的绘制在上层，重叠只显示上层颜色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48CAE4"/>
                </a:solidFill>
                <a:latin typeface="Calibri"/>
              </a:rPr>
              <a:t>▸ </a:t>
            </a:r>
            <a:r>
              <a:rPr sz="1100">
                <a:solidFill>
                  <a:srgbClr val="CAD2E0"/>
                </a:solidFill>
                <a:latin typeface="Calibri"/>
              </a:rPr>
              <a:t>推理双箭头: 目标(左)结果(右)并排，一致绿/不一致红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48CAE4"/>
                </a:solidFill>
                <a:latin typeface="Calibri"/>
              </a:rPr>
              <a:t>▸ </a:t>
            </a:r>
            <a:r>
              <a:rPr sz="1100">
                <a:solidFill>
                  <a:srgbClr val="CAD2E0"/>
                </a:solidFill>
                <a:latin typeface="Calibri"/>
              </a:rPr>
              <a:t>姿态日志: 全局持续记录，坠床报警红色高亮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4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3657600" cy="11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C758A"/>
                </a:solidFill>
                <a:latin typeface="Calibri"/>
              </a:defRPr>
            </a:pPr>
            <a:r>
              <a:t>EEG BCI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5029200"/>
            <a:ext cx="3200400" cy="11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C758A"/>
                </a:solidFill>
                <a:latin typeface="Calibri"/>
              </a:defRPr>
            </a:pPr>
            <a:r>
              <a:t>CH32H417 Dual-Core MCU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8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B4D8"/>
                </a:solidFill>
                <a:latin typeface="Impact"/>
              </a:defRPr>
            </a:pPr>
            <a: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项目亮点与规划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731520"/>
            <a:ext cx="109728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005840"/>
            <a:ext cx="4114800" cy="3200400"/>
          </a:xfrm>
          <a:prstGeom prst="rect">
            <a:avLst/>
          </a:prstGeom>
          <a:solidFill>
            <a:srgbClr val="141B2D"/>
          </a:solidFill>
          <a:ln w="12700">
            <a:solidFill>
              <a:srgbClr val="1E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005840"/>
            <a:ext cx="41148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097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Calibri"/>
              </a:defRPr>
            </a:pPr>
            <a:r>
              <a:t>项目亮点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417320"/>
            <a:ext cx="3749039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00B4D8"/>
                </a:solidFill>
                <a:latin typeface="Calibri"/>
              </a:rPr>
              <a:t>▸ </a:t>
            </a:r>
            <a:r>
              <a:rPr sz="1100">
                <a:solidFill>
                  <a:srgbClr val="CAD2E0"/>
                </a:solidFill>
                <a:latin typeface="Calibri"/>
              </a:rPr>
              <a:t>全国产化硬件: CH32H417+ADS1299+ICM42605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0B4D8"/>
                </a:solidFill>
                <a:latin typeface="Calibri"/>
              </a:rPr>
              <a:t>▸ </a:t>
            </a:r>
            <a:r>
              <a:rPr sz="1100">
                <a:solidFill>
                  <a:srgbClr val="CAD2E0"/>
                </a:solidFill>
                <a:latin typeface="Calibri"/>
              </a:rPr>
              <a:t>双核异构计算: V3F采集+V5F推理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0B4D8"/>
                </a:solidFill>
                <a:latin typeface="Calibri"/>
              </a:rPr>
              <a:t>▸ </a:t>
            </a:r>
            <a:r>
              <a:rPr sz="1100">
                <a:solidFill>
                  <a:srgbClr val="CAD2E0"/>
                </a:solidFill>
                <a:latin typeface="Calibri"/>
              </a:rPr>
              <a:t>页面感知DISPLAY_CFG: 按需计算节省CPU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0B4D8"/>
                </a:solidFill>
                <a:latin typeface="Calibri"/>
              </a:rPr>
              <a:t>▸ </a:t>
            </a:r>
            <a:r>
              <a:rPr sz="1100">
                <a:solidFill>
                  <a:srgbClr val="CAD2E0"/>
                </a:solidFill>
                <a:latin typeface="Calibri"/>
              </a:rPr>
              <a:t>医患双端协作: 医生控制+患者被动显示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0B4D8"/>
                </a:solidFill>
                <a:latin typeface="Calibri"/>
              </a:rPr>
              <a:t>▸ </a:t>
            </a:r>
            <a:r>
              <a:rPr sz="1100">
                <a:solidFill>
                  <a:srgbClr val="CAD2E0"/>
                </a:solidFill>
                <a:latin typeface="Calibri"/>
              </a:rPr>
              <a:t>姿态全局日志: 静态listener永不丢事件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0B4D8"/>
                </a:solidFill>
                <a:latin typeface="Calibri"/>
              </a:rPr>
              <a:t>▸ </a:t>
            </a:r>
            <a:r>
              <a:rPr sz="1100">
                <a:solidFill>
                  <a:srgbClr val="CAD2E0"/>
                </a:solidFill>
                <a:latin typeface="Calibri"/>
              </a:rPr>
              <a:t>AR眼镜适配: 纯黑背景+高对比度箭头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0B4D8"/>
                </a:solidFill>
                <a:latin typeface="Calibri"/>
              </a:rPr>
              <a:t>▸ </a:t>
            </a:r>
            <a:r>
              <a:rPr sz="1100">
                <a:solidFill>
                  <a:srgbClr val="CAD2E0"/>
                </a:solidFill>
                <a:latin typeface="Calibri"/>
              </a:rPr>
              <a:t>可扩展硬件接口: BLE/蜂鸣器/电池/GPS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1005840"/>
            <a:ext cx="4114800" cy="3200400"/>
          </a:xfrm>
          <a:prstGeom prst="rect">
            <a:avLst/>
          </a:prstGeom>
          <a:solidFill>
            <a:srgbClr val="141B2D"/>
          </a:solidFill>
          <a:ln w="12700">
            <a:solidFill>
              <a:srgbClr val="1E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63440" y="1005840"/>
            <a:ext cx="4114800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1097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D6A0"/>
                </a:solidFill>
                <a:latin typeface="Calibri"/>
              </a:defRPr>
            </a:pPr>
            <a:r>
              <a:t>未来规划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1417320"/>
            <a:ext cx="3749039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06D6A0"/>
                </a:solidFill>
                <a:latin typeface="Calibri"/>
              </a:rPr>
              <a:t>▸ </a:t>
            </a:r>
            <a:r>
              <a:rPr sz="1100">
                <a:solidFill>
                  <a:srgbClr val="CAD2E0"/>
                </a:solidFill>
                <a:latin typeface="Calibri"/>
              </a:rPr>
              <a:t>脑电地形图(Topomap)实时显示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6D6A0"/>
                </a:solidFill>
                <a:latin typeface="Calibri"/>
              </a:rPr>
              <a:t>▸ </a:t>
            </a:r>
            <a:r>
              <a:rPr sz="1100">
                <a:solidFill>
                  <a:srgbClr val="CAD2E0"/>
                </a:solidFill>
                <a:latin typeface="Calibri"/>
              </a:rPr>
              <a:t>专注度生物反馈游戏化训练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6D6A0"/>
                </a:solidFill>
                <a:latin typeface="Calibri"/>
              </a:rPr>
              <a:t>▸ </a:t>
            </a:r>
            <a:r>
              <a:rPr sz="1100">
                <a:solidFill>
                  <a:srgbClr val="CAD2E0"/>
                </a:solidFill>
                <a:latin typeface="Calibri"/>
              </a:rPr>
              <a:t>多患者同时监控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6D6A0"/>
                </a:solidFill>
                <a:latin typeface="Calibri"/>
              </a:rPr>
              <a:t>▸ </a:t>
            </a:r>
            <a:r>
              <a:rPr sz="1100">
                <a:solidFill>
                  <a:srgbClr val="CAD2E0"/>
                </a:solidFill>
                <a:latin typeface="Calibri"/>
              </a:rPr>
              <a:t>训练方案可视化编辑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6D6A0"/>
                </a:solidFill>
                <a:latin typeface="Calibri"/>
              </a:rPr>
              <a:t>▸ </a:t>
            </a:r>
            <a:r>
              <a:rPr sz="1100">
                <a:solidFill>
                  <a:srgbClr val="CAD2E0"/>
                </a:solidFill>
                <a:latin typeface="Calibri"/>
              </a:rPr>
              <a:t>数据导出PDF临床报告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6D6A0"/>
                </a:solidFill>
                <a:latin typeface="Calibri"/>
              </a:rPr>
              <a:t>▸ </a:t>
            </a:r>
            <a:r>
              <a:rPr sz="1100">
                <a:solidFill>
                  <a:srgbClr val="CAD2E0"/>
                </a:solidFill>
                <a:latin typeface="Calibri"/>
              </a:rPr>
              <a:t>TTS语音播报训练指令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6D6A0"/>
                </a:solidFill>
                <a:latin typeface="Calibri"/>
              </a:rPr>
              <a:t>▸ </a:t>
            </a:r>
            <a:r>
              <a:rPr sz="1100">
                <a:solidFill>
                  <a:srgbClr val="CAD2E0"/>
                </a:solidFill>
                <a:latin typeface="Calibri"/>
              </a:rPr>
              <a:t>BLE近场通信+便携化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0"/>
            <a:ext cx="9144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0972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Impact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103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AD2E0"/>
                </a:solidFill>
                <a:latin typeface="Calibri"/>
              </a:defRPr>
            </a:pPr>
            <a:r>
              <a:t>恳请各位老师批评指正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2743200"/>
            <a:ext cx="2743200" cy="18288"/>
          </a:xfrm>
          <a:prstGeom prst="rect">
            <a:avLst/>
          </a:prstGeom>
          <a:solidFill>
            <a:srgbClr val="1E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3017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C758A"/>
                </a:solidFill>
                <a:latin typeface="Calibri"/>
              </a:defRPr>
            </a:pPr>
            <a:r>
              <a:t>南京信息工程大学  |  沈笑  |  电子信息工程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